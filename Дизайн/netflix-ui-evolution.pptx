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58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1649C-D22F-F6C9-F12A-E9521C71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79804-7D02-3A15-1570-35CBF3CE6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D4E1B-B5F1-3524-8D8D-923D7416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FADA2-3097-02E2-377D-9C15F4F415C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84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F42168-BE52-45D4-B2F0-D2721CEB0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1D45994-D624-461D-B707-1E12BBD9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7D5C83E-6D0F-4F47-BA7B-FE24A18E2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A058C7D-9CC4-493A-8314-362CD8C8B0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DE0AE0-BFD4-4B57-A443-C3A7046EAA5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8A318C-54D3-4FAF-A8C4-40FE7CE127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440C99-3DE7-45CC-B3D3-1565664A3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rcRect l="17500" r="17500"/>
          <a:stretch>
            <a:fillRect/>
          </a:stretch>
        </p:blipFill>
        <p:spPr>
          <a:xfrm>
            <a:off x="4267200" y="0"/>
            <a:ext cx="79248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1E2A57-3BFC-4498-A463-12F009687B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90909">
              <a:alpha val="94902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0CFCDC-633B-4452-8461-260DC2D517A5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000000">
              <a:alpha val="47059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162F97-2129-4C23-9030-8C299A61A146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3048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EFE8"/>
                </a:solidFill>
              </a:defRPr>
            </a:pPr>
            <a:r>
              <a:rPr sz="2850" b="1">
                <a:solidFill>
                  <a:srgbClr val="F4EFE8"/>
                </a:solidFill>
              </a:rPr>
              <a:t>Эволюция дизайна</a:t>
            </a:r>
          </a:p>
          <a:p>
            <a:pPr algn="l">
              <a:defRPr sz="2850" b="1">
                <a:solidFill>
                  <a:srgbClr val="F4EFE8"/>
                </a:solidFill>
              </a:defRPr>
            </a:pPr>
            <a:r>
              <a:rPr sz="2850" b="1">
                <a:solidFill>
                  <a:srgbClr val="F4EFE8"/>
                </a:solidFill>
              </a:rPr>
              <a:t>интерфейса Netflix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8A4938D-8311-4315-8534-E83C82794ECF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667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B7B1A9"/>
                </a:solidFill>
              </a:defRPr>
            </a:pPr>
            <a:r>
              <a:rPr sz="1650" b="0" dirty="0" err="1">
                <a:solidFill>
                  <a:srgbClr val="B7B1A9"/>
                </a:solidFill>
              </a:rPr>
              <a:t>Как</a:t>
            </a:r>
            <a:r>
              <a:rPr sz="1650" b="0" dirty="0">
                <a:solidFill>
                  <a:srgbClr val="B7B1A9"/>
                </a:solidFill>
              </a:rPr>
              <a:t> Netflix </a:t>
            </a:r>
            <a:r>
              <a:rPr sz="1650" b="0" dirty="0" err="1">
                <a:solidFill>
                  <a:srgbClr val="B7B1A9"/>
                </a:solidFill>
              </a:rPr>
              <a:t>менял</a:t>
            </a:r>
            <a:r>
              <a:rPr sz="1650" b="0" dirty="0">
                <a:solidFill>
                  <a:srgbClr val="B7B1A9"/>
                </a:solidFill>
              </a:rPr>
              <a:t> </a:t>
            </a:r>
            <a:r>
              <a:rPr sz="1650" b="0" dirty="0" err="1">
                <a:solidFill>
                  <a:srgbClr val="B7B1A9"/>
                </a:solidFill>
              </a:rPr>
              <a:t>экран</a:t>
            </a:r>
            <a:r>
              <a:rPr sz="1650" b="0" dirty="0">
                <a:solidFill>
                  <a:srgbClr val="B7B1A9"/>
                </a:solidFill>
              </a:rPr>
              <a:t>,</a:t>
            </a:r>
          </a:p>
          <a:p>
            <a:pPr algn="l">
              <a:defRPr sz="1650" b="0">
                <a:solidFill>
                  <a:srgbClr val="B7B1A9"/>
                </a:solidFill>
              </a:defRPr>
            </a:pPr>
            <a:r>
              <a:rPr sz="1650" b="0" dirty="0" err="1">
                <a:solidFill>
                  <a:srgbClr val="B7B1A9"/>
                </a:solidFill>
              </a:rPr>
              <a:t>чтобы</a:t>
            </a:r>
            <a:r>
              <a:rPr sz="1650" b="0" dirty="0">
                <a:solidFill>
                  <a:srgbClr val="B7B1A9"/>
                </a:solidFill>
              </a:rPr>
              <a:t> </a:t>
            </a:r>
            <a:r>
              <a:rPr sz="1650" b="0" dirty="0" err="1">
                <a:solidFill>
                  <a:srgbClr val="B7B1A9"/>
                </a:solidFill>
              </a:rPr>
              <a:t>ускорять</a:t>
            </a:r>
            <a:r>
              <a:rPr sz="1650" b="0" dirty="0">
                <a:solidFill>
                  <a:srgbClr val="B7B1A9"/>
                </a:solidFill>
              </a:rPr>
              <a:t> </a:t>
            </a:r>
            <a:r>
              <a:rPr sz="1650" b="0" dirty="0" err="1">
                <a:solidFill>
                  <a:srgbClr val="B7B1A9"/>
                </a:solidFill>
              </a:rPr>
              <a:t>выбор</a:t>
            </a:r>
            <a:r>
              <a:rPr sz="1650" b="0" dirty="0">
                <a:solidFill>
                  <a:srgbClr val="B7B1A9"/>
                </a:solidFill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17E626-E41A-47A9-85A7-03D3F9DC1AD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1999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A1EB0D-DB13-4F32-9B76-EA14D0F710E9}"/>
              </a:ext>
            </a:extLst>
          </p:cNvPr>
          <p:cNvSpPr>
            <a:spLocks noGrp="1"/>
          </p:cNvSpPr>
          <p:nvPr/>
        </p:nvSpPr>
        <p:spPr>
          <a:xfrm>
            <a:off x="1238250" y="40957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sz="1600" b="0" dirty="0" err="1">
                <a:solidFill>
                  <a:srgbClr val="F4EFE8"/>
                </a:solidFill>
              </a:rPr>
              <a:t>каталог</a:t>
            </a:r>
            <a:endParaRPr sz="1600" b="0" dirty="0">
              <a:solidFill>
                <a:srgbClr val="F4EFE8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079409A-919B-45AD-8D34-2754CA286D8A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2004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5241FB-7AAD-4419-A653-74CF6495BA33}"/>
              </a:ext>
            </a:extLst>
          </p:cNvPr>
          <p:cNvSpPr>
            <a:spLocks noGrp="1"/>
          </p:cNvSpPr>
          <p:nvPr/>
        </p:nvSpPr>
        <p:spPr>
          <a:xfrm>
            <a:off x="1238250" y="4419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lang="ru-RU" sz="1600" b="0" dirty="0">
                <a:solidFill>
                  <a:srgbClr val="F4EFE8"/>
                </a:solidFill>
              </a:rPr>
              <a:t>подписка</a:t>
            </a:r>
            <a:endParaRPr sz="1600" b="0" dirty="0">
              <a:solidFill>
                <a:srgbClr val="F4EFE8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E6C564-1D96-41A6-B582-7B2CE095C8EA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2010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12A129F-ACF3-455E-BFDF-000E41D28D35}"/>
              </a:ext>
            </a:extLst>
          </p:cNvPr>
          <p:cNvSpPr>
            <a:spLocks noGrp="1"/>
          </p:cNvSpPr>
          <p:nvPr/>
        </p:nvSpPr>
        <p:spPr>
          <a:xfrm>
            <a:off x="1238250" y="47434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sz="1600" b="0" dirty="0" err="1">
                <a:solidFill>
                  <a:srgbClr val="F4EFE8"/>
                </a:solidFill>
              </a:rPr>
              <a:t>стриминг</a:t>
            </a:r>
            <a:endParaRPr sz="1600" b="0" dirty="0">
              <a:solidFill>
                <a:srgbClr val="F4EFE8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ADD91D3-A322-4607-A896-D4C804013C41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2013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D757515-CB0B-48CE-A964-780047F5EDDB}"/>
              </a:ext>
            </a:extLst>
          </p:cNvPr>
          <p:cNvSpPr>
            <a:spLocks noGrp="1"/>
          </p:cNvSpPr>
          <p:nvPr/>
        </p:nvSpPr>
        <p:spPr>
          <a:xfrm>
            <a:off x="1238250" y="50673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lang="ru-RU" sz="1600" b="0" dirty="0">
                <a:solidFill>
                  <a:srgbClr val="F4EFE8"/>
                </a:solidFill>
              </a:rPr>
              <a:t>профили</a:t>
            </a:r>
            <a:endParaRPr sz="1600" b="0" dirty="0">
              <a:solidFill>
                <a:srgbClr val="F4EFE8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2CB6766-6438-4FE7-AE46-3AA42DF64F17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2018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FA8F33-EBD9-4DAA-9C14-0FD0CFE8FEFB}"/>
              </a:ext>
            </a:extLst>
          </p:cNvPr>
          <p:cNvSpPr>
            <a:spLocks noGrp="1"/>
          </p:cNvSpPr>
          <p:nvPr/>
        </p:nvSpPr>
        <p:spPr>
          <a:xfrm>
            <a:off x="1238250" y="5391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sz="1600" b="0" dirty="0" err="1">
                <a:solidFill>
                  <a:srgbClr val="F4EFE8"/>
                </a:solidFill>
              </a:rPr>
              <a:t>превью</a:t>
            </a:r>
            <a:endParaRPr sz="1600" b="0" dirty="0">
              <a:solidFill>
                <a:srgbClr val="F4EFE8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20E1C9F-2386-4D70-94DB-DC75B1DEB83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600" b="1" dirty="0">
                <a:solidFill>
                  <a:srgbClr val="E50914"/>
                </a:solidFill>
              </a:rPr>
              <a:t>2025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34A1EB-E017-4872-A96C-2DC6080DE194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4EFE8"/>
                </a:solidFill>
              </a:defRPr>
            </a:pPr>
            <a:r>
              <a:rPr lang="ru-RU" sz="1600" dirty="0">
                <a:solidFill>
                  <a:srgbClr val="F4EFE8"/>
                </a:solidFill>
              </a:rPr>
              <a:t>главный экран</a:t>
            </a:r>
            <a:r>
              <a:rPr lang="en-US" sz="1600" dirty="0">
                <a:solidFill>
                  <a:srgbClr val="F4EFE8"/>
                </a:solidFill>
              </a:rPr>
              <a:t> TV</a:t>
            </a:r>
            <a:endParaRPr sz="1600" b="0" dirty="0">
              <a:solidFill>
                <a:srgbClr val="F4EF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226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716832-8763-40ED-B984-1C4D8430B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A816286-1E7A-4446-9943-A87258518D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B0C5FC-9943-4267-AE7A-45D292C37F8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МАРШРУТ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02B2E9-E59C-4E90-9564-7DDB568F2D0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191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Как менялся интерфейс Netflix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81D96B-1CA4-43D3-860B-358B214290C2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Шесть этапов, на которых Netflix менял не только внешний вид, но и саму логику выбора.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25669F-9FFF-4249-8C3E-C95A7CF69366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0458450" cy="19050"/>
          </a:xfrm>
          <a:prstGeom prst="rect">
            <a:avLst/>
          </a:prstGeom>
          <a:solidFill>
            <a:srgbClr val="2B2B2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0F2209-B106-4938-95D3-899E44A43998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361950" cy="3619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134BCB-0495-48BE-9C9F-AD743F05D08D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1999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340FEC-5E7F-4D32-8431-B19B81461315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Каталог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DVD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AF7A87-76ED-43F6-8C94-E602A8D26CF9}"/>
              </a:ext>
            </a:extLst>
          </p:cNvPr>
          <p:cNvSpPr>
            <a:spLocks noGrp="1"/>
          </p:cNvSpPr>
          <p:nvPr/>
        </p:nvSpPr>
        <p:spPr>
          <a:xfrm>
            <a:off x="2819400" y="3276600"/>
            <a:ext cx="361950" cy="3619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0CA407D-776E-4522-AB10-E74D47568945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2004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02BA376-36F5-47E6-BE7E-87108A927464}"/>
              </a:ext>
            </a:extLst>
          </p:cNvPr>
          <p:cNvSpPr>
            <a:spLocks noGrp="1"/>
          </p:cNvSpPr>
          <p:nvPr/>
        </p:nvSpPr>
        <p:spPr>
          <a:xfrm>
            <a:off x="249555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Подписка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и оффер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6DDFA0-C1D4-475A-BDDE-591C38C47A1D}"/>
              </a:ext>
            </a:extLst>
          </p:cNvPr>
          <p:cNvSpPr>
            <a:spLocks noGrp="1"/>
          </p:cNvSpPr>
          <p:nvPr/>
        </p:nvSpPr>
        <p:spPr>
          <a:xfrm>
            <a:off x="4591050" y="3276600"/>
            <a:ext cx="361950" cy="3619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3E7470A-D6FF-4F61-8F2C-0FEA5D8DD050}"/>
              </a:ext>
            </a:extLst>
          </p:cNvPr>
          <p:cNvSpPr>
            <a:spLocks noGrp="1"/>
          </p:cNvSpPr>
          <p:nvPr/>
        </p:nvSpPr>
        <p:spPr>
          <a:xfrm>
            <a:off x="426720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2010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CC3C974-FC5C-4083-A4B8-391AA6F204B4}"/>
              </a:ext>
            </a:extLst>
          </p:cNvPr>
          <p:cNvSpPr>
            <a:spLocks noGrp="1"/>
          </p:cNvSpPr>
          <p:nvPr/>
        </p:nvSpPr>
        <p:spPr>
          <a:xfrm>
            <a:off x="426720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Стриминг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везде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0A6A712-04FC-45A1-B018-96000C62C461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361950" cy="3619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0F36EFC-7DBE-497D-9536-207712C16DA3}"/>
              </a:ext>
            </a:extLst>
          </p:cNvPr>
          <p:cNvSpPr>
            <a:spLocks noGrp="1"/>
          </p:cNvSpPr>
          <p:nvPr/>
        </p:nvSpPr>
        <p:spPr>
          <a:xfrm>
            <a:off x="603885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2013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8C52FB6-9FCB-4ADA-AEB4-1BC260491CDC}"/>
              </a:ext>
            </a:extLst>
          </p:cNvPr>
          <p:cNvSpPr>
            <a:spLocks noGrp="1"/>
          </p:cNvSpPr>
          <p:nvPr/>
        </p:nvSpPr>
        <p:spPr>
          <a:xfrm>
            <a:off x="603885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Профили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и вкус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399AA15-3F99-4806-9400-9A06E6195750}"/>
              </a:ext>
            </a:extLst>
          </p:cNvPr>
          <p:cNvSpPr>
            <a:spLocks noGrp="1"/>
          </p:cNvSpPr>
          <p:nvPr/>
        </p:nvSpPr>
        <p:spPr>
          <a:xfrm>
            <a:off x="8134350" y="3276600"/>
            <a:ext cx="361950" cy="3619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FCE807D-3C67-409E-95F7-2BCF276EE459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2018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BF45AF2-F332-453B-974E-E7E97586F637}"/>
              </a:ext>
            </a:extLst>
          </p:cNvPr>
          <p:cNvSpPr>
            <a:spLocks noGrp="1"/>
          </p:cNvSpPr>
          <p:nvPr/>
        </p:nvSpPr>
        <p:spPr>
          <a:xfrm>
            <a:off x="781050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Превью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в ленте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2B45E7B-4A98-49F0-9F28-1431FC6B0B66}"/>
              </a:ext>
            </a:extLst>
          </p:cNvPr>
          <p:cNvSpPr>
            <a:spLocks noGrp="1"/>
          </p:cNvSpPr>
          <p:nvPr/>
        </p:nvSpPr>
        <p:spPr>
          <a:xfrm>
            <a:off x="9906000" y="3276600"/>
            <a:ext cx="361950" cy="3619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D0AB542-3780-4B4B-8DCC-2B1BB02B7B1B}"/>
              </a:ext>
            </a:extLst>
          </p:cNvPr>
          <p:cNvSpPr>
            <a:spLocks noGrp="1"/>
          </p:cNvSpPr>
          <p:nvPr/>
        </p:nvSpPr>
        <p:spPr>
          <a:xfrm>
            <a:off x="9582150" y="25527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EFE8"/>
                </a:solidFill>
              </a:defRPr>
            </a:pPr>
            <a:r>
              <a:rPr sz="1800" b="1">
                <a:solidFill>
                  <a:srgbClr val="F4EFE8"/>
                </a:solidFill>
              </a:rPr>
              <a:t>2025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3511BEA-C74A-4A55-8875-7373FB34EA41}"/>
              </a:ext>
            </a:extLst>
          </p:cNvPr>
          <p:cNvSpPr>
            <a:spLocks noGrp="1"/>
          </p:cNvSpPr>
          <p:nvPr/>
        </p:nvSpPr>
        <p:spPr>
          <a:xfrm>
            <a:off x="9582150" y="3829050"/>
            <a:ext cx="102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Чистый</a:t>
            </a:r>
          </a:p>
          <a:p>
            <a:pPr algn="ctr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TV-home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9CFA02B-AB00-40A4-9D44-9A27FED7F713}"/>
              </a:ext>
            </a:extLst>
          </p:cNvPr>
          <p:cNvSpPr>
            <a:spLocks noGrp="1"/>
          </p:cNvSpPr>
          <p:nvPr/>
        </p:nvSpPr>
        <p:spPr>
          <a:xfrm>
            <a:off x="1356360" y="5086350"/>
            <a:ext cx="9479280" cy="102870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7680493-1068-4539-B1A8-EA042CDEE801}"/>
              </a:ext>
            </a:extLst>
          </p:cNvPr>
          <p:cNvSpPr>
            <a:spLocks noGrp="1"/>
          </p:cNvSpPr>
          <p:nvPr/>
        </p:nvSpPr>
        <p:spPr>
          <a:xfrm>
            <a:off x="1384935" y="5419725"/>
            <a:ext cx="942213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4EFE8"/>
                </a:solidFill>
              </a:defRPr>
            </a:pPr>
            <a:r>
              <a:rPr sz="2100" b="1" dirty="0" err="1">
                <a:solidFill>
                  <a:srgbClr val="F4EFE8"/>
                </a:solidFill>
              </a:rPr>
              <a:t>От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поиска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по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каталогу</a:t>
            </a:r>
            <a:r>
              <a:rPr sz="2100" b="1" dirty="0">
                <a:solidFill>
                  <a:srgbClr val="F4EFE8"/>
                </a:solidFill>
              </a:rPr>
              <a:t> — к </a:t>
            </a:r>
            <a:r>
              <a:rPr sz="2100" b="1" dirty="0" err="1">
                <a:solidFill>
                  <a:srgbClr val="F4EFE8"/>
                </a:solidFill>
              </a:rPr>
              <a:t>почти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мгновенному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решению</a:t>
            </a:r>
            <a:r>
              <a:rPr sz="2100" b="1" dirty="0">
                <a:solidFill>
                  <a:srgbClr val="F4EFE8"/>
                </a:solidFill>
              </a:rPr>
              <a:t>, </a:t>
            </a:r>
            <a:r>
              <a:rPr sz="2100" b="1" dirty="0" err="1">
                <a:solidFill>
                  <a:srgbClr val="F4EFE8"/>
                </a:solidFill>
              </a:rPr>
              <a:t>что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включить</a:t>
            </a:r>
            <a:r>
              <a:rPr sz="2100" b="1" dirty="0">
                <a:solidFill>
                  <a:srgbClr val="F4EFE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982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D1383BD-C49B-4A62-BB23-ED69DE58CC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36723A-F8BF-46B4-A0D0-1B804A5ACA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DB713C-10F0-4DDE-9DA1-DEBE5EE62A8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D8A2FD-261B-4D37-ADB8-9865D822836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1999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3C2E39-55E8-48C9-BE0F-148D470CB055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Сайт-каталог DVD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D97312-02F8-4C9D-932F-D6BDBA6137A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Интерфейс ещё работает как ранний интернет-магазин: много текста, мало образов, логика каталога важнее впечатления.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EA9E91-BE57-4B59-8358-012E4B298D06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89DFE86-9A49-4AAD-A291-4E4A6C7E3382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7ACFC77-229F-4DEE-821E-C3C9AE0F729E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8B9AA94-90F2-4393-B36F-5E79D52B6048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Ссылки и рубрики, а не визуальный контент.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EC21591-0451-4E63-A8BE-B7A470E3D0C7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616D0A8-B62E-44DA-B0B6-8FFFEC4CFFE9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480654C-1C60-4962-9DAB-526C39923637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E167C06-FCF1-4DF0-9166-400E6067EB3A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Пользователь читает, чтобы выбрать.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DBFF90F-9E4C-4C2E-B6EF-DB9D7D9C5365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A56EB61-666B-4EE2-B7B3-5C903FE3CDE7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950B60E-3236-428C-8C06-D4C483953DC2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0D6A86D-B39F-4041-93B9-4DC5F0C79FE5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Высокая когнитивная нагрузка.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F785FE-0103-4543-B9D1-E8ED202A68EF}"/>
              </a:ext>
            </a:extLst>
          </p:cNvPr>
          <p:cNvSpPr>
            <a:spLocks noGrp="1"/>
          </p:cNvSpPr>
          <p:nvPr/>
        </p:nvSpPr>
        <p:spPr>
          <a:xfrm>
            <a:off x="5175250" y="755649"/>
            <a:ext cx="6305550" cy="4845051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9389883-D630-4859-A00F-F23E97780E86}"/>
              </a:ext>
            </a:extLst>
          </p:cNvPr>
          <p:cNvSpPr>
            <a:spLocks noGrp="1"/>
          </p:cNvSpPr>
          <p:nvPr/>
        </p:nvSpPr>
        <p:spPr>
          <a:xfrm>
            <a:off x="5105401" y="6075363"/>
            <a:ext cx="1990724" cy="430213"/>
          </a:xfrm>
          <a:prstGeom prst="rect">
            <a:avLst/>
          </a:prstGeom>
          <a:solidFill>
            <a:srgbClr val="0F0F0F"/>
          </a:solidFill>
          <a:ln w="9525">
            <a:solidFill>
              <a:srgbClr val="E50914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BE7158E-48D2-4E24-8E4A-5D5F83EFD40B}"/>
              </a:ext>
            </a:extLst>
          </p:cNvPr>
          <p:cNvSpPr>
            <a:spLocks noGrp="1"/>
          </p:cNvSpPr>
          <p:nvPr/>
        </p:nvSpPr>
        <p:spPr>
          <a:xfrm>
            <a:off x="5105400" y="6165850"/>
            <a:ext cx="19907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E50914"/>
                </a:solidFill>
              </a:defRPr>
            </a:pPr>
            <a:r>
              <a:rPr lang="ru-RU" sz="1400" b="1" dirty="0">
                <a:solidFill>
                  <a:srgbClr val="E50914"/>
                </a:solidFill>
              </a:rPr>
              <a:t>Д</a:t>
            </a:r>
            <a:r>
              <a:rPr sz="1400" b="1" dirty="0" err="1">
                <a:solidFill>
                  <a:srgbClr val="E50914"/>
                </a:solidFill>
              </a:rPr>
              <a:t>оминирует</a:t>
            </a:r>
            <a:r>
              <a:rPr sz="1400" b="1" dirty="0">
                <a:solidFill>
                  <a:srgbClr val="E50914"/>
                </a:solidFill>
              </a:rPr>
              <a:t> </a:t>
            </a:r>
            <a:r>
              <a:rPr sz="1400" b="1" dirty="0" err="1">
                <a:solidFill>
                  <a:srgbClr val="E50914"/>
                </a:solidFill>
              </a:rPr>
              <a:t>каталог</a:t>
            </a:r>
            <a:endParaRPr sz="1400" b="1" dirty="0">
              <a:solidFill>
                <a:srgbClr val="E50914"/>
              </a:solidFill>
            </a:endParaRPr>
          </a:p>
        </p:txBody>
      </p:sp>
      <p:pic>
        <p:nvPicPr>
          <p:cNvPr id="1026" name="Picture 2" descr="Netflix home page, 1999">
            <a:extLst>
              <a:ext uri="{FF2B5EF4-FFF2-40B4-BE49-F238E27FC236}">
                <a16:creationId xmlns:a16="http://schemas.microsoft.com/office/drawing/2014/main" id="{FE4DD76A-6DDD-A4CA-8689-E739E431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087" y="831850"/>
            <a:ext cx="612981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6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BCB1F2-155D-4BAA-925F-6E8BDC029A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C8EC86-9DE9-49C5-8818-DD8120FA3D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82291C-AED1-46EA-BE67-1CB8D255BF0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BB2A9C-29F7-46E9-AB90-FD8C45938F3C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2004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BB086F4-D831-480A-935B-3BC90074966D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Подписка выходит на первый экран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E2A236-AB09-4993-98D2-CE4528931C4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Netflix делает главную страницу продающей: крупный оффер, яркий CTA, больше обложек и меньше ощущения простого каталога.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B92C67F-760D-4F52-9C2F-9F6B2106D352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5E7AF12-625D-4928-8AAC-1DE0986908D3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FA72AA9-9BF8-4753-B7D8-546646BE1A16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6A13A"/>
                </a:solidFill>
              </a:defRPr>
            </a:pPr>
            <a:r>
              <a:rPr sz="900" b="1">
                <a:solidFill>
                  <a:srgbClr val="D6A13A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5D0CBC-D867-4949-9940-40058A3E4B4B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Пробный период и конверсия в подписку.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35C81AB-BD3E-4F7A-98A8-346922379F7F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012966-813B-464B-B646-0E9D1F92B49E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FEB30D4-B0EC-45F3-B13F-715720E744C7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6A13A"/>
                </a:solidFill>
              </a:defRPr>
            </a:pPr>
            <a:r>
              <a:rPr sz="900" b="1">
                <a:solidFill>
                  <a:srgbClr val="D6A13A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42D3777-20B0-47F1-AB00-729E75FD418E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Крупные промо-блоки и брендовый красный.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2830D45-AC03-4532-A264-309CEB30FD57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6DB41DB-D049-4159-AD63-81EADD75E708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E37F3B1-280E-403C-ABE6-016952AFB553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6A13A"/>
                </a:solidFill>
              </a:defRPr>
            </a:pPr>
            <a:r>
              <a:rPr sz="900" b="1">
                <a:solidFill>
                  <a:srgbClr val="D6A13A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5B1B74B-F8BF-43C0-A943-A0801C3C1818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Сервис начинает продавать себя, а не только каталог.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6F91C5B-7993-4714-A5D1-0A17661B209E}"/>
              </a:ext>
            </a:extLst>
          </p:cNvPr>
          <p:cNvSpPr>
            <a:spLocks noGrp="1"/>
          </p:cNvSpPr>
          <p:nvPr/>
        </p:nvSpPr>
        <p:spPr>
          <a:xfrm>
            <a:off x="4953000" y="1181100"/>
            <a:ext cx="6572250" cy="4429125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276658"/>
            <a:ext cx="6381750" cy="423801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1722497-C914-46BF-B26F-3C6CE9A71FD2}"/>
              </a:ext>
            </a:extLst>
          </p:cNvPr>
          <p:cNvSpPr>
            <a:spLocks noGrp="1"/>
          </p:cNvSpPr>
          <p:nvPr/>
        </p:nvSpPr>
        <p:spPr>
          <a:xfrm>
            <a:off x="4911090" y="6020753"/>
            <a:ext cx="2369820" cy="426718"/>
          </a:xfrm>
          <a:prstGeom prst="rect">
            <a:avLst/>
          </a:prstGeom>
          <a:solidFill>
            <a:srgbClr val="0F0F0F"/>
          </a:solidFill>
          <a:ln w="9525">
            <a:solidFill>
              <a:srgbClr val="D6A13A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E4EE79B-BCDC-4A92-BA90-585981188E48}"/>
              </a:ext>
            </a:extLst>
          </p:cNvPr>
          <p:cNvSpPr>
            <a:spLocks noGrp="1"/>
          </p:cNvSpPr>
          <p:nvPr/>
        </p:nvSpPr>
        <p:spPr>
          <a:xfrm>
            <a:off x="4911090" y="6106476"/>
            <a:ext cx="2369820" cy="3409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6A13A"/>
                </a:solidFill>
              </a:defRPr>
            </a:pPr>
            <a:r>
              <a:rPr lang="ru-RU" sz="1400" b="1" dirty="0">
                <a:solidFill>
                  <a:srgbClr val="D6A13A"/>
                </a:solidFill>
              </a:rPr>
              <a:t>Г</a:t>
            </a:r>
            <a:r>
              <a:rPr sz="1400" b="1" dirty="0" err="1">
                <a:solidFill>
                  <a:srgbClr val="D6A13A"/>
                </a:solidFill>
              </a:rPr>
              <a:t>лавный</a:t>
            </a:r>
            <a:r>
              <a:rPr sz="1400" b="1" dirty="0">
                <a:solidFill>
                  <a:srgbClr val="D6A13A"/>
                </a:solidFill>
              </a:rPr>
              <a:t> </a:t>
            </a:r>
            <a:r>
              <a:rPr sz="1400" b="1" dirty="0" err="1">
                <a:solidFill>
                  <a:srgbClr val="D6A13A"/>
                </a:solidFill>
              </a:rPr>
              <a:t>экран</a:t>
            </a:r>
            <a:r>
              <a:rPr sz="1400" b="1" dirty="0">
                <a:solidFill>
                  <a:srgbClr val="D6A13A"/>
                </a:solidFill>
              </a:rPr>
              <a:t> = </a:t>
            </a:r>
            <a:r>
              <a:rPr lang="ru-RU" sz="1400" b="1" dirty="0">
                <a:solidFill>
                  <a:srgbClr val="D6A13A"/>
                </a:solidFill>
              </a:rPr>
              <a:t>О</a:t>
            </a:r>
            <a:r>
              <a:rPr sz="1400" b="1" dirty="0" err="1">
                <a:solidFill>
                  <a:srgbClr val="D6A13A"/>
                </a:solidFill>
              </a:rPr>
              <a:t>ффер</a:t>
            </a:r>
            <a:endParaRPr sz="1400" b="1" dirty="0">
              <a:solidFill>
                <a:srgbClr val="D6A1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94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DE23BD8-0676-4066-A672-AB583CC014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68C10A-0B36-4437-A0F7-59D750E6F3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75B12E-EC42-4F41-92E1-B0A1F894276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35D56D-8FE3-4C4A-B840-E5CD328E7DBA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2010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454F89-1412-4A23-B2F1-8B3A8A14FD4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Интерфейс объясняет стриминг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EC3D625-F297-4B44-B11B-ACD15C2FFD7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После запуска streaming Netflix показывает не только фильмы, но и новый сценарий: смотреть можно сразу, на разных устройствах.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FB2C2F-4EA2-451B-8C17-C80BD27F53B7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E25876B-3712-4539-8C5D-6BC806786B78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D365E65-8D08-4099-BFEE-9A0DA1E9E05B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B78FF"/>
                </a:solidFill>
              </a:defRPr>
            </a:pPr>
            <a:r>
              <a:rPr sz="900" b="1">
                <a:solidFill>
                  <a:srgbClr val="4B78FF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23F742-80E9-4768-8D21-175854DDA630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TV, компьютер, приставки, мгновенный запуск.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062B7D2-EA8A-446B-84D1-44A6CAB89ABB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DDCB91-AF57-484F-B37C-4DDD6BBB3226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875874-435B-4899-9F30-241EB376D32C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B78FF"/>
                </a:solidFill>
              </a:defRPr>
            </a:pPr>
            <a:r>
              <a:rPr sz="900" b="1">
                <a:solidFill>
                  <a:srgbClr val="4B78FF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4176F86-B1C4-455C-93BB-8B9B7A09C2C1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Интерфейс сервиса вместо интерфейса проката.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793AD37-83D2-4D1C-9EA5-3C538B8DCF9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409A64B-27F7-4ACA-9A85-5EAA6A1594A2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1A5728F-F6B9-4E6B-AAA8-21728EF3DFEC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B78FF"/>
                </a:solidFill>
              </a:defRPr>
            </a:pPr>
            <a:r>
              <a:rPr sz="900" b="1">
                <a:solidFill>
                  <a:srgbClr val="4B78FF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36B1051-8553-432D-8658-AE111814545C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Netflix продаёт удобство доступа.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81004B3-8A2F-474F-9CAF-296533433B04}"/>
              </a:ext>
            </a:extLst>
          </p:cNvPr>
          <p:cNvSpPr>
            <a:spLocks noGrp="1"/>
          </p:cNvSpPr>
          <p:nvPr/>
        </p:nvSpPr>
        <p:spPr>
          <a:xfrm>
            <a:off x="4953000" y="1181100"/>
            <a:ext cx="6572250" cy="4295775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9794" y="1276350"/>
            <a:ext cx="6378662" cy="4105275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8687236-7E94-499D-BE44-244D123F9237}"/>
              </a:ext>
            </a:extLst>
          </p:cNvPr>
          <p:cNvSpPr>
            <a:spLocks noGrp="1"/>
          </p:cNvSpPr>
          <p:nvPr/>
        </p:nvSpPr>
        <p:spPr>
          <a:xfrm>
            <a:off x="4842510" y="6063615"/>
            <a:ext cx="2506980" cy="438150"/>
          </a:xfrm>
          <a:prstGeom prst="rect">
            <a:avLst/>
          </a:prstGeom>
          <a:solidFill>
            <a:srgbClr val="0F0F0F"/>
          </a:solidFill>
          <a:ln w="9525">
            <a:solidFill>
              <a:srgbClr val="4B78F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DF4D2EB-77CE-470C-8DDF-EB1C181E5721}"/>
              </a:ext>
            </a:extLst>
          </p:cNvPr>
          <p:cNvSpPr>
            <a:spLocks noGrp="1"/>
          </p:cNvSpPr>
          <p:nvPr/>
        </p:nvSpPr>
        <p:spPr>
          <a:xfrm>
            <a:off x="4842510" y="6166485"/>
            <a:ext cx="250698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B78FF"/>
                </a:solidFill>
              </a:defRPr>
            </a:pPr>
            <a:r>
              <a:rPr lang="ru-RU" sz="1400" b="1" dirty="0">
                <a:solidFill>
                  <a:srgbClr val="4B78FF"/>
                </a:solidFill>
              </a:rPr>
              <a:t>Д</a:t>
            </a:r>
            <a:r>
              <a:rPr sz="1400" b="1" dirty="0" err="1">
                <a:solidFill>
                  <a:srgbClr val="4B78FF"/>
                </a:solidFill>
              </a:rPr>
              <a:t>оступ</a:t>
            </a:r>
            <a:r>
              <a:rPr sz="1400" b="1" dirty="0">
                <a:solidFill>
                  <a:srgbClr val="4B78FF"/>
                </a:solidFill>
              </a:rPr>
              <a:t> </a:t>
            </a:r>
            <a:r>
              <a:rPr sz="1400" b="1" dirty="0" err="1">
                <a:solidFill>
                  <a:srgbClr val="4B78FF"/>
                </a:solidFill>
              </a:rPr>
              <a:t>важнее</a:t>
            </a:r>
            <a:r>
              <a:rPr sz="1400" b="1" dirty="0">
                <a:solidFill>
                  <a:srgbClr val="4B78FF"/>
                </a:solidFill>
              </a:rPr>
              <a:t> </a:t>
            </a:r>
            <a:r>
              <a:rPr sz="1400" b="1" dirty="0" err="1">
                <a:solidFill>
                  <a:srgbClr val="4B78FF"/>
                </a:solidFill>
              </a:rPr>
              <a:t>аренды</a:t>
            </a:r>
            <a:endParaRPr sz="1400" b="1" dirty="0">
              <a:solidFill>
                <a:srgbClr val="4B78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72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A38655-9E89-4594-9F62-25CB769BA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5129FA-E38B-435A-8994-E6F7FDA4B0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43CC6F-0D3E-4882-BD86-BAA8F2F5AEC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7D2DCF-A732-4DC3-9196-3EBF392AE4B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2013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4B9662-52EC-485E-B6E3-80FA3A42F5E9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lang="ru-RU" sz="2550" b="1" dirty="0">
                <a:solidFill>
                  <a:srgbClr val="F4EFE8"/>
                </a:solidFill>
              </a:rPr>
              <a:t>Профили</a:t>
            </a:r>
            <a:r>
              <a:rPr sz="2550" b="1" dirty="0">
                <a:solidFill>
                  <a:srgbClr val="F4EFE8"/>
                </a:solidFill>
              </a:rPr>
              <a:t> </a:t>
            </a:r>
            <a:r>
              <a:rPr sz="2550" b="1" dirty="0" err="1">
                <a:solidFill>
                  <a:srgbClr val="F4EFE8"/>
                </a:solidFill>
              </a:rPr>
              <a:t>меняют</a:t>
            </a:r>
            <a:r>
              <a:rPr sz="2550" b="1" dirty="0">
                <a:solidFill>
                  <a:srgbClr val="F4EFE8"/>
                </a:solidFill>
              </a:rPr>
              <a:t> </a:t>
            </a:r>
            <a:r>
              <a:rPr sz="2550" b="1" dirty="0" err="1">
                <a:solidFill>
                  <a:srgbClr val="F4EFE8"/>
                </a:solidFill>
              </a:rPr>
              <a:t>логику</a:t>
            </a:r>
            <a:r>
              <a:rPr sz="2550" b="1" dirty="0">
                <a:solidFill>
                  <a:srgbClr val="F4EFE8"/>
                </a:solidFill>
              </a:rPr>
              <a:t> </a:t>
            </a:r>
            <a:r>
              <a:rPr lang="ru-RU" sz="2550" b="1" dirty="0">
                <a:solidFill>
                  <a:srgbClr val="F4EFE8"/>
                </a:solidFill>
              </a:rPr>
              <a:t>главного экрана</a:t>
            </a:r>
            <a:endParaRPr sz="2550" b="1" dirty="0">
              <a:solidFill>
                <a:srgbClr val="F4EFE8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533712-95E7-42B3-A67D-CA1E8592A3A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С 2013 года вход в Netflix начинается с вопроса «кто смотрит?». Это делает интерфейс персональным уже до первого ряда рекомендаций.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10C623-BE9E-489D-8C9E-277CDEB0940C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BAD99F9-78FB-42ED-AD40-2B3A3844BC88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92B277-6EE4-4E8E-8368-34DA9176D5EF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6B6A4"/>
                </a:solidFill>
              </a:defRPr>
            </a:pPr>
            <a:r>
              <a:rPr sz="900" b="1">
                <a:solidFill>
                  <a:srgbClr val="26B6A4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43620EE-DC5F-447A-BE52-F70692A35F34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Отдельные вкусы внутри одного аккаунта.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7F28CF1-28ED-49E4-A1C9-9E466D24B7F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8ECD3E-C1E4-4824-BF0D-780311C4794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E074B43-7F9E-40EE-9003-A8095ECFECE5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6B6A4"/>
                </a:solidFill>
              </a:defRPr>
            </a:pPr>
            <a:r>
              <a:rPr sz="900" b="1">
                <a:solidFill>
                  <a:srgbClr val="26B6A4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0BAC4B2-7FE6-4F0B-B844-AEA887F75120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Сначала человек, потом каталог.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7BBDD40-38E7-426B-8256-EBE96C2F794F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DAA2E5C-D349-4E8B-801E-FFA92E5A9287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5343AFA-4992-4DEB-9E15-2BD25816549A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6B6A4"/>
                </a:solidFill>
              </a:defRPr>
            </a:pPr>
            <a:r>
              <a:rPr sz="900" b="1">
                <a:solidFill>
                  <a:srgbClr val="26B6A4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5B5CB1A-6057-42C8-B0EA-7093768EB072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Рекомендации становятся точнее и понятнее.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2C23DDE-A6C8-4A88-9F06-DFDDEFF183D4}"/>
              </a:ext>
            </a:extLst>
          </p:cNvPr>
          <p:cNvSpPr>
            <a:spLocks noGrp="1"/>
          </p:cNvSpPr>
          <p:nvPr/>
        </p:nvSpPr>
        <p:spPr>
          <a:xfrm>
            <a:off x="4953000" y="1181100"/>
            <a:ext cx="6572250" cy="3781425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276945"/>
            <a:ext cx="6381750" cy="3589734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CEAC86A-B24A-4061-B405-2FCE5109D574}"/>
              </a:ext>
            </a:extLst>
          </p:cNvPr>
          <p:cNvSpPr>
            <a:spLocks noGrp="1"/>
          </p:cNvSpPr>
          <p:nvPr/>
        </p:nvSpPr>
        <p:spPr>
          <a:xfrm>
            <a:off x="4911090" y="6029325"/>
            <a:ext cx="2369820" cy="447675"/>
          </a:xfrm>
          <a:prstGeom prst="rect">
            <a:avLst/>
          </a:prstGeom>
          <a:solidFill>
            <a:srgbClr val="0F0F0F"/>
          </a:solidFill>
          <a:ln w="9525">
            <a:solidFill>
              <a:srgbClr val="26B6A4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2C61D5A-A672-42F5-89AF-0E0789140561}"/>
              </a:ext>
            </a:extLst>
          </p:cNvPr>
          <p:cNvSpPr>
            <a:spLocks noGrp="1"/>
          </p:cNvSpPr>
          <p:nvPr/>
        </p:nvSpPr>
        <p:spPr>
          <a:xfrm>
            <a:off x="5013960" y="6105524"/>
            <a:ext cx="216408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6B6A4"/>
                </a:solidFill>
              </a:defRPr>
            </a:pPr>
            <a:r>
              <a:rPr lang="ru-RU" sz="1400" b="1" dirty="0">
                <a:solidFill>
                  <a:srgbClr val="26B6A4"/>
                </a:solidFill>
              </a:rPr>
              <a:t>К</a:t>
            </a:r>
            <a:r>
              <a:rPr sz="1400" b="1" dirty="0" err="1">
                <a:solidFill>
                  <a:srgbClr val="26B6A4"/>
                </a:solidFill>
              </a:rPr>
              <a:t>аждому</a:t>
            </a:r>
            <a:r>
              <a:rPr sz="1400" b="1" dirty="0">
                <a:solidFill>
                  <a:srgbClr val="26B6A4"/>
                </a:solidFill>
              </a:rPr>
              <a:t> — </a:t>
            </a:r>
            <a:r>
              <a:rPr sz="1400" b="1" dirty="0" err="1">
                <a:solidFill>
                  <a:srgbClr val="26B6A4"/>
                </a:solidFill>
              </a:rPr>
              <a:t>свой</a:t>
            </a:r>
            <a:r>
              <a:rPr sz="1400" b="1" dirty="0">
                <a:solidFill>
                  <a:srgbClr val="26B6A4"/>
                </a:solidFill>
              </a:rPr>
              <a:t> Netflix</a:t>
            </a:r>
          </a:p>
        </p:txBody>
      </p:sp>
    </p:spTree>
    <p:extLst>
      <p:ext uri="{BB962C8B-B14F-4D97-AF65-F5344CB8AC3E}">
        <p14:creationId xmlns:p14="http://schemas.microsoft.com/office/powerpoint/2010/main" val="9424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A01F60-5E07-42B4-8E6E-5D0C654934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3FECBD-FF37-49C5-A6D9-151C4944DF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68D2B2-7BB6-43E2-8D5B-897E0F068A8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F0205F-A0EB-4297-A896-7B9B3E28A7EA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2018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16B096-44E2-4787-86C9-9641BF7EA33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Превью делают поиск динамичным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F8D0A3-03CE-40AE-A2FF-6BCA8F1FA4A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 dirty="0">
                <a:solidFill>
                  <a:srgbClr val="B7B1A9"/>
                </a:solidFill>
              </a:rPr>
              <a:t>Netflix </a:t>
            </a:r>
            <a:r>
              <a:rPr sz="1350" b="0" dirty="0" err="1">
                <a:solidFill>
                  <a:srgbClr val="B7B1A9"/>
                </a:solidFill>
              </a:rPr>
              <a:t>усиливает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lang="ru-RU" sz="1350" b="0" dirty="0">
                <a:solidFill>
                  <a:srgbClr val="B7B1A9"/>
                </a:solidFill>
              </a:rPr>
              <a:t>превью на телефонах</a:t>
            </a:r>
            <a:r>
              <a:rPr sz="1350" b="0" dirty="0">
                <a:solidFill>
                  <a:srgbClr val="B7B1A9"/>
                </a:solidFill>
              </a:rPr>
              <a:t>: </a:t>
            </a:r>
            <a:r>
              <a:rPr lang="ru-RU" sz="1350" dirty="0">
                <a:solidFill>
                  <a:srgbClr val="B7B1A9"/>
                </a:solidFill>
              </a:rPr>
              <a:t>баннер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тайтла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всё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меньше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похожа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на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статичную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карточку</a:t>
            </a:r>
            <a:r>
              <a:rPr sz="1350" b="0" dirty="0">
                <a:solidFill>
                  <a:srgbClr val="B7B1A9"/>
                </a:solidFill>
              </a:rPr>
              <a:t> и </a:t>
            </a:r>
            <a:r>
              <a:rPr sz="1350" b="0" dirty="0" err="1">
                <a:solidFill>
                  <a:srgbClr val="B7B1A9"/>
                </a:solidFill>
              </a:rPr>
              <a:t>всё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больше</a:t>
            </a:r>
            <a:r>
              <a:rPr sz="1350" b="0" dirty="0">
                <a:solidFill>
                  <a:srgbClr val="B7B1A9"/>
                </a:solidFill>
              </a:rPr>
              <a:t> — </a:t>
            </a:r>
            <a:r>
              <a:rPr sz="1350" b="0" dirty="0" err="1">
                <a:solidFill>
                  <a:srgbClr val="B7B1A9"/>
                </a:solidFill>
              </a:rPr>
              <a:t>на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короткое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впечатление</a:t>
            </a:r>
            <a:r>
              <a:rPr sz="1350" b="0" dirty="0">
                <a:solidFill>
                  <a:srgbClr val="B7B1A9"/>
                </a:solidFill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0C1BEC-4147-40F4-A74F-4F866FE87534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E97941-2195-49FE-AB31-9CC109813162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DA0D76-4CCF-4BCD-B100-98BB57235C8E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59B6"/>
                </a:solidFill>
              </a:defRPr>
            </a:pPr>
            <a:r>
              <a:rPr sz="900" b="1">
                <a:solidFill>
                  <a:srgbClr val="9B59B6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2A73CE6-69CD-4DE3-8629-C79FC420022B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Короткие видео и быстрый эмоциональный сигнал.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63ADB88-3C38-491E-8A2D-98576F925686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E5FC350-B5FF-40D9-81B5-6CA1FA39E8B2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DB132CC-D310-489C-9521-2AC2D05B5704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59B6"/>
                </a:solidFill>
              </a:defRPr>
            </a:pPr>
            <a:r>
              <a:rPr sz="900" b="1">
                <a:solidFill>
                  <a:srgbClr val="9B59B6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3DBE7D8-3483-4AF5-B915-99D1AD7D1AEB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Свайп и превью вместо длинного чтения.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43788B-95EF-4FB5-ADDF-6A3D2B42A91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C7A75FC-FA2F-4D3C-8848-D2EA7488BE51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7250354-D4E4-4298-8047-52A727BC5668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59B6"/>
                </a:solidFill>
              </a:defRPr>
            </a:pPr>
            <a:r>
              <a:rPr sz="900" b="1">
                <a:solidFill>
                  <a:srgbClr val="9B59B6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3282787-DAD7-436A-94B1-3F6F1E07982C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Решение принимается быстрее.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4F127C4-9450-43CF-AEAF-8AB286AA4D92}"/>
              </a:ext>
            </a:extLst>
          </p:cNvPr>
          <p:cNvSpPr>
            <a:spLocks noGrp="1"/>
          </p:cNvSpPr>
          <p:nvPr/>
        </p:nvSpPr>
        <p:spPr>
          <a:xfrm>
            <a:off x="4953000" y="1181100"/>
            <a:ext cx="6572250" cy="3781425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1276945"/>
            <a:ext cx="6381750" cy="3589734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A8331EF-C499-4FA6-A923-C9499B9F6894}"/>
              </a:ext>
            </a:extLst>
          </p:cNvPr>
          <p:cNvSpPr>
            <a:spLocks noGrp="1"/>
          </p:cNvSpPr>
          <p:nvPr/>
        </p:nvSpPr>
        <p:spPr>
          <a:xfrm>
            <a:off x="4869180" y="5829300"/>
            <a:ext cx="2461260" cy="693417"/>
          </a:xfrm>
          <a:prstGeom prst="rect">
            <a:avLst/>
          </a:prstGeom>
          <a:solidFill>
            <a:srgbClr val="0F0F0F"/>
          </a:solidFill>
          <a:ln w="9525">
            <a:solidFill>
              <a:srgbClr val="9B59B6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E0090F8-A3F9-4CED-B0E4-0BDCC6B3042A}"/>
              </a:ext>
            </a:extLst>
          </p:cNvPr>
          <p:cNvSpPr>
            <a:spLocks noGrp="1"/>
          </p:cNvSpPr>
          <p:nvPr/>
        </p:nvSpPr>
        <p:spPr>
          <a:xfrm>
            <a:off x="4953000" y="5962650"/>
            <a:ext cx="2301240" cy="5848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9B59B6"/>
                </a:solidFill>
              </a:defRPr>
            </a:pPr>
            <a:r>
              <a:rPr lang="ru-RU" sz="1400" b="1" dirty="0">
                <a:solidFill>
                  <a:srgbClr val="9B59B6"/>
                </a:solidFill>
              </a:rPr>
              <a:t>М</a:t>
            </a:r>
            <a:r>
              <a:rPr sz="1400" b="1" dirty="0" err="1">
                <a:solidFill>
                  <a:srgbClr val="9B59B6"/>
                </a:solidFill>
              </a:rPr>
              <a:t>еньше</a:t>
            </a:r>
            <a:r>
              <a:rPr sz="1400" b="1" dirty="0">
                <a:solidFill>
                  <a:srgbClr val="9B59B6"/>
                </a:solidFill>
              </a:rPr>
              <a:t> </a:t>
            </a:r>
            <a:r>
              <a:rPr sz="1400" b="1" dirty="0" err="1">
                <a:solidFill>
                  <a:srgbClr val="9B59B6"/>
                </a:solidFill>
              </a:rPr>
              <a:t>чтения</a:t>
            </a:r>
            <a:r>
              <a:rPr sz="1400" b="1" dirty="0">
                <a:solidFill>
                  <a:srgbClr val="9B59B6"/>
                </a:solidFill>
              </a:rPr>
              <a:t>, </a:t>
            </a:r>
            <a:r>
              <a:rPr sz="1400" b="1" dirty="0" err="1">
                <a:solidFill>
                  <a:srgbClr val="9B59B6"/>
                </a:solidFill>
              </a:rPr>
              <a:t>больше</a:t>
            </a:r>
            <a:r>
              <a:rPr sz="1400" b="1" dirty="0">
                <a:solidFill>
                  <a:srgbClr val="9B59B6"/>
                </a:solidFill>
              </a:rPr>
              <a:t> </a:t>
            </a:r>
            <a:r>
              <a:rPr sz="1400" b="1" dirty="0" err="1">
                <a:solidFill>
                  <a:srgbClr val="9B59B6"/>
                </a:solidFill>
              </a:rPr>
              <a:t>впечатления</a:t>
            </a:r>
            <a:endParaRPr sz="1400" b="1" dirty="0">
              <a:solidFill>
                <a:srgbClr val="9B59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01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D2BA4-59F4-48D3-8396-9F7206D1EA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8A2FCF-C134-498B-A43A-3396AC6E45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CC58FB-4344-486C-9829-3EED7D50433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123950" cy="3238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30C193-09F3-43E2-8AE6-777E88D8403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4EFE8"/>
                </a:solidFill>
              </a:defRPr>
            </a:pPr>
            <a:r>
              <a:rPr sz="1500" b="1">
                <a:solidFill>
                  <a:srgbClr val="F4EFE8"/>
                </a:solidFill>
              </a:rPr>
              <a:t>2025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895843-FD66-4D57-9D03-048D506C3815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4095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lang="ru-RU" sz="2550" b="1" dirty="0">
                <a:solidFill>
                  <a:srgbClr val="F4EFE8"/>
                </a:solidFill>
              </a:rPr>
              <a:t>Главный экран на </a:t>
            </a:r>
            <a:r>
              <a:rPr lang="en-US" sz="2550" b="1" dirty="0">
                <a:solidFill>
                  <a:srgbClr val="F4EFE8"/>
                </a:solidFill>
              </a:rPr>
              <a:t>TV </a:t>
            </a:r>
            <a:r>
              <a:rPr sz="2550" b="1" dirty="0" err="1">
                <a:solidFill>
                  <a:srgbClr val="F4EFE8"/>
                </a:solidFill>
              </a:rPr>
              <a:t>становится</a:t>
            </a:r>
            <a:r>
              <a:rPr sz="2550" b="1" dirty="0">
                <a:solidFill>
                  <a:srgbClr val="F4EFE8"/>
                </a:solidFill>
              </a:rPr>
              <a:t> </a:t>
            </a:r>
            <a:r>
              <a:rPr sz="2550" b="1" dirty="0" err="1">
                <a:solidFill>
                  <a:srgbClr val="F4EFE8"/>
                </a:solidFill>
              </a:rPr>
              <a:t>чище</a:t>
            </a:r>
            <a:endParaRPr sz="2550" b="1" dirty="0">
              <a:solidFill>
                <a:srgbClr val="F4EFE8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405B71-28B3-44B4-9B79-DEB82C83AA6D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ТВ-интерфейс Netflix упрощается: навигация уходит вверх, важный контекст появляется раньше, экран выглядит спокойнее и точнее.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3C5782C-581A-41B3-8F7D-0B246AE1BCAE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EEBE3C-49AD-4E2C-8F76-7C6C255270EF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2E632B-98F8-4FA8-AC7F-156697A2D353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ФОКУС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C8BDD8-EBFD-4E61-B5D8-8076E9549BA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Контекст и действия ближе к тайтлу.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320D70-1197-417D-A114-14C023F38AFE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A038031-24D5-4A38-A34E-CC3EEDFBF72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5B7FD-A271-4260-B2EF-D3DA62EF065E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ПАТТЕРН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4F4B19-4BD8-4ECD-ACD9-0DAE3C3EB281}"/>
              </a:ext>
            </a:extLst>
          </p:cNvPr>
          <p:cNvSpPr>
            <a:spLocks noGrp="1"/>
          </p:cNvSpPr>
          <p:nvPr/>
        </p:nvSpPr>
        <p:spPr>
          <a:xfrm>
            <a:off x="800100" y="440055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Верхняя навигация и более чистая витрина.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71C6BE-5017-477D-9D13-C273E39C3C3D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39052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8FB1F5B-8F22-4888-A3B5-D1A6A047CFC9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30BBDF4-1B69-4F2F-9EB9-48C9973F4DDF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3581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ЭФФЕКТ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69B3D64-731A-4183-B24D-AEB2A40F2FC1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3581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Путь до запуска контента короче.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264D35A-3AE2-47CA-B0D2-AE7BBB70A2E8}"/>
              </a:ext>
            </a:extLst>
          </p:cNvPr>
          <p:cNvSpPr>
            <a:spLocks noGrp="1"/>
          </p:cNvSpPr>
          <p:nvPr/>
        </p:nvSpPr>
        <p:spPr>
          <a:xfrm>
            <a:off x="4856060" y="334320"/>
            <a:ext cx="4845302" cy="282798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0" y="486040"/>
            <a:ext cx="4575421" cy="2573675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F5C3407-1873-48EA-9B71-567C9098A0A1}"/>
              </a:ext>
            </a:extLst>
          </p:cNvPr>
          <p:cNvSpPr>
            <a:spLocks noGrp="1"/>
          </p:cNvSpPr>
          <p:nvPr/>
        </p:nvSpPr>
        <p:spPr>
          <a:xfrm>
            <a:off x="9798302" y="1912620"/>
            <a:ext cx="1990473" cy="121920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64653" y="2007284"/>
            <a:ext cx="1850161" cy="1040716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67406F-0D8F-493C-90AE-0576A1CC4AF5}"/>
              </a:ext>
            </a:extLst>
          </p:cNvPr>
          <p:cNvSpPr>
            <a:spLocks noGrp="1"/>
          </p:cNvSpPr>
          <p:nvPr/>
        </p:nvSpPr>
        <p:spPr>
          <a:xfrm>
            <a:off x="4862578" y="3352800"/>
            <a:ext cx="6926197" cy="245364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9E71514-F24D-493A-A372-EC04ABF3169F}"/>
              </a:ext>
            </a:extLst>
          </p:cNvPr>
          <p:cNvSpPr>
            <a:spLocks noGrp="1"/>
          </p:cNvSpPr>
          <p:nvPr/>
        </p:nvSpPr>
        <p:spPr>
          <a:xfrm>
            <a:off x="5219700" y="3581400"/>
            <a:ext cx="21031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50914"/>
                </a:solidFill>
              </a:defRPr>
            </a:pPr>
            <a:r>
              <a:rPr sz="1600" b="1" dirty="0" err="1">
                <a:solidFill>
                  <a:srgbClr val="E50914"/>
                </a:solidFill>
              </a:rPr>
              <a:t>Что</a:t>
            </a:r>
            <a:r>
              <a:rPr sz="1600" b="1" dirty="0">
                <a:solidFill>
                  <a:srgbClr val="E50914"/>
                </a:solidFill>
              </a:rPr>
              <a:t> </a:t>
            </a:r>
            <a:r>
              <a:rPr sz="1600" b="1" dirty="0" err="1">
                <a:solidFill>
                  <a:srgbClr val="E50914"/>
                </a:solidFill>
              </a:rPr>
              <a:t>заметно</a:t>
            </a:r>
            <a:r>
              <a:rPr sz="1600" b="1" dirty="0">
                <a:solidFill>
                  <a:srgbClr val="E50914"/>
                </a:solidFill>
              </a:rPr>
              <a:t> </a:t>
            </a:r>
            <a:r>
              <a:rPr sz="1600" b="1" dirty="0" err="1">
                <a:solidFill>
                  <a:srgbClr val="E50914"/>
                </a:solidFill>
              </a:rPr>
              <a:t>сразу</a:t>
            </a:r>
            <a:endParaRPr sz="1600" b="1" dirty="0">
              <a:solidFill>
                <a:srgbClr val="E50914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52ABA60-0E71-4261-A65B-0B8999DC6118}"/>
              </a:ext>
            </a:extLst>
          </p:cNvPr>
          <p:cNvSpPr>
            <a:spLocks noGrp="1"/>
          </p:cNvSpPr>
          <p:nvPr/>
        </p:nvSpPr>
        <p:spPr>
          <a:xfrm>
            <a:off x="5219700" y="4026217"/>
            <a:ext cx="2890774" cy="16725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EFE8"/>
                </a:solidFill>
              </a:defRPr>
            </a:pPr>
            <a:r>
              <a:rPr sz="1650" b="1" dirty="0" err="1">
                <a:solidFill>
                  <a:srgbClr val="F4EFE8"/>
                </a:solidFill>
              </a:rPr>
              <a:t>Навигация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наверху</a:t>
            </a:r>
            <a:r>
              <a:rPr sz="1650" b="1" dirty="0">
                <a:solidFill>
                  <a:srgbClr val="F4EFE8"/>
                </a:solidFill>
              </a:rPr>
              <a:t>.</a:t>
            </a:r>
          </a:p>
          <a:p>
            <a:pPr algn="l">
              <a:defRPr sz="1650" b="1">
                <a:solidFill>
                  <a:srgbClr val="F4EFE8"/>
                </a:solidFill>
              </a:defRPr>
            </a:pPr>
            <a:r>
              <a:rPr sz="1650" b="1" dirty="0" err="1">
                <a:solidFill>
                  <a:srgbClr val="F4EFE8"/>
                </a:solidFill>
              </a:rPr>
              <a:t>Больше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воздуха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вокруг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героя</a:t>
            </a:r>
            <a:r>
              <a:rPr sz="1650" b="1" dirty="0">
                <a:solidFill>
                  <a:srgbClr val="F4EFE8"/>
                </a:solidFill>
              </a:rPr>
              <a:t>.</a:t>
            </a:r>
          </a:p>
          <a:p>
            <a:pPr algn="l">
              <a:defRPr sz="1650" b="1">
                <a:solidFill>
                  <a:srgbClr val="F4EFE8"/>
                </a:solidFill>
              </a:defRPr>
            </a:pPr>
            <a:r>
              <a:rPr sz="1650" b="1" dirty="0" err="1">
                <a:solidFill>
                  <a:srgbClr val="F4EFE8"/>
                </a:solidFill>
              </a:rPr>
              <a:t>Информация</a:t>
            </a:r>
            <a:r>
              <a:rPr sz="1650" b="1" dirty="0">
                <a:solidFill>
                  <a:srgbClr val="F4EFE8"/>
                </a:solidFill>
              </a:rPr>
              <a:t> о </a:t>
            </a:r>
            <a:r>
              <a:rPr sz="1650" b="1" dirty="0" err="1">
                <a:solidFill>
                  <a:srgbClr val="F4EFE8"/>
                </a:solidFill>
              </a:rPr>
              <a:t>тайтле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видна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раньше</a:t>
            </a:r>
            <a:r>
              <a:rPr sz="1650" b="1" dirty="0">
                <a:solidFill>
                  <a:srgbClr val="F4EFE8"/>
                </a:solidFill>
              </a:rPr>
              <a:t>.</a:t>
            </a:r>
          </a:p>
          <a:p>
            <a:pPr algn="l">
              <a:defRPr sz="1650" b="1">
                <a:solidFill>
                  <a:srgbClr val="F4EFE8"/>
                </a:solidFill>
              </a:defRPr>
            </a:pPr>
            <a:r>
              <a:rPr sz="1650" b="1" dirty="0" err="1">
                <a:solidFill>
                  <a:srgbClr val="F4EFE8"/>
                </a:solidFill>
              </a:rPr>
              <a:t>Сетка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выглядит</a:t>
            </a:r>
            <a:r>
              <a:rPr sz="1650" b="1" dirty="0">
                <a:solidFill>
                  <a:srgbClr val="F4EFE8"/>
                </a:solidFill>
              </a:rPr>
              <a:t> </a:t>
            </a:r>
            <a:r>
              <a:rPr sz="1650" b="1" dirty="0" err="1">
                <a:solidFill>
                  <a:srgbClr val="F4EFE8"/>
                </a:solidFill>
              </a:rPr>
              <a:t>спокойнее</a:t>
            </a:r>
            <a:r>
              <a:rPr sz="1650" b="1" dirty="0">
                <a:solidFill>
                  <a:srgbClr val="F4EFE8"/>
                </a:solidFill>
              </a:rPr>
              <a:t>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2EA6585-63E0-45F7-ACB1-222A0279CBA0}"/>
              </a:ext>
            </a:extLst>
          </p:cNvPr>
          <p:cNvSpPr>
            <a:spLocks noGrp="1"/>
          </p:cNvSpPr>
          <p:nvPr/>
        </p:nvSpPr>
        <p:spPr>
          <a:xfrm>
            <a:off x="8625332" y="4030027"/>
            <a:ext cx="2675636" cy="1221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500" b="0" dirty="0" err="1">
                <a:solidFill>
                  <a:srgbClr val="B7B1A9"/>
                </a:solidFill>
              </a:rPr>
              <a:t>Новый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интерфейс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не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просто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чище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визуально</a:t>
            </a:r>
            <a:r>
              <a:rPr sz="1500" b="0" dirty="0">
                <a:solidFill>
                  <a:srgbClr val="B7B1A9"/>
                </a:solidFill>
              </a:rPr>
              <a:t>. </a:t>
            </a:r>
            <a:r>
              <a:rPr sz="1500" b="0" dirty="0" err="1">
                <a:solidFill>
                  <a:srgbClr val="B7B1A9"/>
                </a:solidFill>
              </a:rPr>
              <a:t>Он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сильнее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ведёт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пользователя</a:t>
            </a:r>
            <a:r>
              <a:rPr sz="1500" b="0" dirty="0">
                <a:solidFill>
                  <a:srgbClr val="B7B1A9"/>
                </a:solidFill>
              </a:rPr>
              <a:t> к </a:t>
            </a:r>
            <a:r>
              <a:rPr sz="1500" b="0" dirty="0" err="1">
                <a:solidFill>
                  <a:srgbClr val="B7B1A9"/>
                </a:solidFill>
              </a:rPr>
              <a:t>действию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без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лишних</a:t>
            </a:r>
            <a:r>
              <a:rPr sz="1500" b="0" dirty="0">
                <a:solidFill>
                  <a:srgbClr val="B7B1A9"/>
                </a:solidFill>
              </a:rPr>
              <a:t> </a:t>
            </a:r>
            <a:r>
              <a:rPr sz="1500" b="0" dirty="0" err="1">
                <a:solidFill>
                  <a:srgbClr val="B7B1A9"/>
                </a:solidFill>
              </a:rPr>
              <a:t>слоёв</a:t>
            </a:r>
            <a:r>
              <a:rPr sz="1500" b="0" dirty="0">
                <a:solidFill>
                  <a:srgbClr val="B7B1A9"/>
                </a:solidFill>
              </a:rPr>
              <a:t>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D5FD364-DB63-4D1A-B319-261A4AC50BA6}"/>
              </a:ext>
            </a:extLst>
          </p:cNvPr>
          <p:cNvSpPr>
            <a:spLocks noGrp="1"/>
          </p:cNvSpPr>
          <p:nvPr/>
        </p:nvSpPr>
        <p:spPr>
          <a:xfrm>
            <a:off x="4953000" y="6057900"/>
            <a:ext cx="1981200" cy="548640"/>
          </a:xfrm>
          <a:prstGeom prst="rect">
            <a:avLst/>
          </a:prstGeom>
          <a:solidFill>
            <a:srgbClr val="0F0F0F"/>
          </a:solidFill>
          <a:ln w="9525">
            <a:solidFill>
              <a:srgbClr val="E50914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CEB6D4B-314B-4D79-BFFC-407CA69E51AC}"/>
              </a:ext>
            </a:extLst>
          </p:cNvPr>
          <p:cNvSpPr>
            <a:spLocks noGrp="1"/>
          </p:cNvSpPr>
          <p:nvPr/>
        </p:nvSpPr>
        <p:spPr>
          <a:xfrm>
            <a:off x="4953000" y="6105524"/>
            <a:ext cx="19812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E50914"/>
                </a:solidFill>
              </a:defRPr>
            </a:pPr>
            <a:r>
              <a:rPr lang="ru-RU" sz="1400" b="1" dirty="0">
                <a:solidFill>
                  <a:srgbClr val="E50914"/>
                </a:solidFill>
              </a:rPr>
              <a:t>Ч</a:t>
            </a:r>
            <a:r>
              <a:rPr sz="1400" b="1" dirty="0" err="1">
                <a:solidFill>
                  <a:srgbClr val="E50914"/>
                </a:solidFill>
              </a:rPr>
              <a:t>истый</a:t>
            </a:r>
            <a:r>
              <a:rPr sz="1400" b="1" dirty="0">
                <a:solidFill>
                  <a:srgbClr val="E50914"/>
                </a:solidFill>
              </a:rPr>
              <a:t> </a:t>
            </a:r>
            <a:r>
              <a:rPr sz="1400" b="1" dirty="0" err="1">
                <a:solidFill>
                  <a:srgbClr val="E50914"/>
                </a:solidFill>
              </a:rPr>
              <a:t>экран</a:t>
            </a:r>
            <a:r>
              <a:rPr sz="1400" b="1" dirty="0">
                <a:solidFill>
                  <a:srgbClr val="E50914"/>
                </a:solidFill>
              </a:rPr>
              <a:t>, </a:t>
            </a:r>
            <a:r>
              <a:rPr sz="1400" b="1" dirty="0" err="1">
                <a:solidFill>
                  <a:srgbClr val="E50914"/>
                </a:solidFill>
              </a:rPr>
              <a:t>быстрый</a:t>
            </a:r>
            <a:r>
              <a:rPr sz="1400" b="1" dirty="0">
                <a:solidFill>
                  <a:srgbClr val="E50914"/>
                </a:solidFill>
              </a:rPr>
              <a:t> </a:t>
            </a:r>
            <a:r>
              <a:rPr sz="1400" b="1" dirty="0" err="1">
                <a:solidFill>
                  <a:srgbClr val="E50914"/>
                </a:solidFill>
              </a:rPr>
              <a:t>выбор</a:t>
            </a:r>
            <a:endParaRPr sz="1400" b="1" dirty="0">
              <a:solidFill>
                <a:srgbClr val="E509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89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AAA819-CEDD-4CBF-A608-3AC89126D4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64C63E-BBB6-4EAF-BDA8-BF32B4282B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E4617B-EE74-4699-A68F-3B3FD51C3F7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B78FF"/>
                </a:solidFill>
              </a:defRPr>
            </a:pPr>
            <a:r>
              <a:rPr sz="900" b="1">
                <a:solidFill>
                  <a:srgbClr val="4B78FF"/>
                </a:solidFill>
              </a:rPr>
              <a:t>ПОВОРОТ 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8D9AEC5-9187-4AEA-90F7-10DE5C54292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191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От каталога к сервису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04F8D1-E854-4A12-AF40-2338B037AA15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Ранний Netflix менял сам тип интерфейса: от магазина с ассортиментом — к экрану доступа и выбора.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674FBF-AD2A-4BA6-AE76-A6D5E13AEDBD}"/>
              </a:ext>
            </a:extLst>
          </p:cNvPr>
          <p:cNvSpPr>
            <a:spLocks noGrp="1"/>
          </p:cNvSpPr>
          <p:nvPr/>
        </p:nvSpPr>
        <p:spPr>
          <a:xfrm>
            <a:off x="584200" y="2209801"/>
            <a:ext cx="2749550" cy="2148422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974A66-020E-4C4B-881B-91B6E3AF056C}"/>
              </a:ext>
            </a:extLst>
          </p:cNvPr>
          <p:cNvSpPr>
            <a:spLocks noGrp="1"/>
          </p:cNvSpPr>
          <p:nvPr/>
        </p:nvSpPr>
        <p:spPr>
          <a:xfrm>
            <a:off x="4476750" y="2209800"/>
            <a:ext cx="3143250" cy="21526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2305690"/>
            <a:ext cx="2952750" cy="196087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442E7DB-C85F-4E3C-937B-7021F50B4FD3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3238500" cy="21526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39150" y="2305286"/>
            <a:ext cx="3048000" cy="196167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2CE1B8-99E6-4F52-8D4E-ADFBF5C8A259}"/>
              </a:ext>
            </a:extLst>
          </p:cNvPr>
          <p:cNvSpPr>
            <a:spLocks noGrp="1"/>
          </p:cNvSpPr>
          <p:nvPr/>
        </p:nvSpPr>
        <p:spPr>
          <a:xfrm>
            <a:off x="628650" y="4396323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200" b="1" dirty="0">
                <a:solidFill>
                  <a:srgbClr val="E50914"/>
                </a:solidFill>
              </a:rPr>
              <a:t>1999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B73E65-04C3-4433-B470-8FA2F14242C7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A13A"/>
                </a:solidFill>
              </a:defRPr>
            </a:pPr>
            <a:r>
              <a:rPr sz="1200" b="1">
                <a:solidFill>
                  <a:srgbClr val="D6A13A"/>
                </a:solidFill>
              </a:rPr>
              <a:t>2004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52F7082-14F8-4A42-9F56-87B8B7251BFA}"/>
              </a:ext>
            </a:extLst>
          </p:cNvPr>
          <p:cNvSpPr>
            <a:spLocks noGrp="1"/>
          </p:cNvSpPr>
          <p:nvPr/>
        </p:nvSpPr>
        <p:spPr>
          <a:xfrm>
            <a:off x="8343900" y="44767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B78FF"/>
                </a:solidFill>
              </a:defRPr>
            </a:pPr>
            <a:r>
              <a:rPr sz="1200" b="1">
                <a:solidFill>
                  <a:srgbClr val="4B78FF"/>
                </a:solidFill>
              </a:rPr>
              <a:t>2010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9ADEDC1-09BD-475D-AFE5-B468772D2355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33718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FF5342-2450-4D5E-A1C6-95CE580758CA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BF38D25-2AAA-45BA-B3FF-F28B50172AC2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КАТАЛОГ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D7DA984-7302-49F6-8B1A-B62655D81B2D}"/>
              </a:ext>
            </a:extLst>
          </p:cNvPr>
          <p:cNvSpPr>
            <a:spLocks noGrp="1"/>
          </p:cNvSpPr>
          <p:nvPr/>
        </p:nvSpPr>
        <p:spPr>
          <a:xfrm>
            <a:off x="800100" y="55626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Много ссылок и ручной поиск.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0780960-3E00-4621-A5EE-C8C0B66B8BC2}"/>
              </a:ext>
            </a:extLst>
          </p:cNvPr>
          <p:cNvSpPr>
            <a:spLocks noGrp="1"/>
          </p:cNvSpPr>
          <p:nvPr/>
        </p:nvSpPr>
        <p:spPr>
          <a:xfrm>
            <a:off x="4400550" y="5219700"/>
            <a:ext cx="33718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207FE9-9611-44DB-AADC-6AB6FCC3BCF9}"/>
              </a:ext>
            </a:extLst>
          </p:cNvPr>
          <p:cNvSpPr>
            <a:spLocks noGrp="1"/>
          </p:cNvSpPr>
          <p:nvPr/>
        </p:nvSpPr>
        <p:spPr>
          <a:xfrm>
            <a:off x="4400550" y="5219700"/>
            <a:ext cx="57150" cy="8953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0D9582D-C23B-4960-93E6-30E01CB0F0FE}"/>
              </a:ext>
            </a:extLst>
          </p:cNvPr>
          <p:cNvSpPr>
            <a:spLocks noGrp="1"/>
          </p:cNvSpPr>
          <p:nvPr/>
        </p:nvSpPr>
        <p:spPr>
          <a:xfrm>
            <a:off x="4591050" y="5334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6A13A"/>
                </a:solidFill>
              </a:defRPr>
            </a:pPr>
            <a:r>
              <a:rPr sz="900" b="1">
                <a:solidFill>
                  <a:srgbClr val="D6A13A"/>
                </a:solidFill>
              </a:rPr>
              <a:t>ОФФЕР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D3C9A38-ED06-4177-85DC-61CA3CE58CFD}"/>
              </a:ext>
            </a:extLst>
          </p:cNvPr>
          <p:cNvSpPr>
            <a:spLocks noGrp="1"/>
          </p:cNvSpPr>
          <p:nvPr/>
        </p:nvSpPr>
        <p:spPr>
          <a:xfrm>
            <a:off x="4591050" y="55626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Главная страница продаёт подписку.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8513491-14EE-4CF0-8C17-FA9F68BAB2B9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337185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31DF103-D33F-4A2C-8A3F-77A73C163BA9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57150" cy="895350"/>
          </a:xfrm>
          <a:prstGeom prst="rect">
            <a:avLst/>
          </a:prstGeom>
          <a:solidFill>
            <a:srgbClr val="4B78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CF000CF-C068-4E63-9986-B965A7001885}"/>
              </a:ext>
            </a:extLst>
          </p:cNvPr>
          <p:cNvSpPr>
            <a:spLocks noGrp="1"/>
          </p:cNvSpPr>
          <p:nvPr/>
        </p:nvSpPr>
        <p:spPr>
          <a:xfrm>
            <a:off x="8382000" y="5334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B78FF"/>
                </a:solidFill>
              </a:defRPr>
            </a:pPr>
            <a:r>
              <a:rPr sz="900" b="1">
                <a:solidFill>
                  <a:srgbClr val="4B78FF"/>
                </a:solidFill>
              </a:rPr>
              <a:t>ДОСТУП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962C91D-1A43-4289-A69E-E64EBF495D72}"/>
              </a:ext>
            </a:extLst>
          </p:cNvPr>
          <p:cNvSpPr>
            <a:spLocks noGrp="1"/>
          </p:cNvSpPr>
          <p:nvPr/>
        </p:nvSpPr>
        <p:spPr>
          <a:xfrm>
            <a:off x="8382000" y="5562600"/>
            <a:ext cx="3048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Сервис продаёт просмотр здесь и сейчас.</a:t>
            </a:r>
          </a:p>
        </p:txBody>
      </p:sp>
      <p:pic>
        <p:nvPicPr>
          <p:cNvPr id="2050" name="Picture 2" descr="Netflix home page, 1999">
            <a:extLst>
              <a:ext uri="{FF2B5EF4-FFF2-40B4-BE49-F238E27FC236}">
                <a16:creationId xmlns:a16="http://schemas.microsoft.com/office/drawing/2014/main" id="{8F179345-05BC-CD9E-06AB-9FDD600CA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49" y="2299026"/>
            <a:ext cx="2587625" cy="19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206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12EA86-9BA9-4661-AE82-5E4BA998D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24A6B0A-BC56-46C6-96DE-F9DC33A0A9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A80950-E871-46F4-AE6B-1CFD1CDFAD1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6B6A4"/>
                </a:solidFill>
              </a:defRPr>
            </a:pPr>
            <a:r>
              <a:rPr sz="900" b="1">
                <a:solidFill>
                  <a:srgbClr val="26B6A4"/>
                </a:solidFill>
              </a:rPr>
              <a:t>ПОВОРОТ 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09C407-914A-4203-9C56-72D24B79413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191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От нейтрального экрана к персональному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D2A3CE-2C64-4902-9EE2-EDFB4E3F94D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Начиная с 2013 года Netflix делает интерфейс всё менее универсальным и всё более подстроенным под конкретного зрителя.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AB0274-C22D-4842-8FD5-3DA257F6B35E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3133725" cy="18478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2344043"/>
            <a:ext cx="2943225" cy="165556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14852F-7308-46B8-B556-72D0F1385181}"/>
              </a:ext>
            </a:extLst>
          </p:cNvPr>
          <p:cNvSpPr>
            <a:spLocks noGrp="1"/>
          </p:cNvSpPr>
          <p:nvPr/>
        </p:nvSpPr>
        <p:spPr>
          <a:xfrm>
            <a:off x="4457700" y="2247900"/>
            <a:ext cx="3133725" cy="18478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52950" y="2344043"/>
            <a:ext cx="2943225" cy="165556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2AE6E37-8278-461D-B24A-F32B279AD567}"/>
              </a:ext>
            </a:extLst>
          </p:cNvPr>
          <p:cNvSpPr>
            <a:spLocks noGrp="1"/>
          </p:cNvSpPr>
          <p:nvPr/>
        </p:nvSpPr>
        <p:spPr>
          <a:xfrm>
            <a:off x="8305800" y="2247900"/>
            <a:ext cx="3133725" cy="18478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01050" y="2344043"/>
            <a:ext cx="2943225" cy="1655564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90805A2-9179-4956-8116-D40EE8E91D1E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327660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F0A5DE-5DC3-45DE-B3E7-F06C6F30C178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57150" cy="8953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2E26352-373D-4E35-B34C-8849414F8522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6B6A4"/>
                </a:solidFill>
              </a:defRPr>
            </a:pPr>
            <a:r>
              <a:rPr sz="900" b="1">
                <a:solidFill>
                  <a:srgbClr val="26B6A4"/>
                </a:solidFill>
              </a:rPr>
              <a:t>2013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2BA1A79-A49A-491E-8EDC-CF774B585D22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Профили отделяют вкусы и историю просмотра.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10C6951-8EDC-4003-B5F4-0C1F2768C1A4}"/>
              </a:ext>
            </a:extLst>
          </p:cNvPr>
          <p:cNvSpPr>
            <a:spLocks noGrp="1"/>
          </p:cNvSpPr>
          <p:nvPr/>
        </p:nvSpPr>
        <p:spPr>
          <a:xfrm>
            <a:off x="4457700" y="4552950"/>
            <a:ext cx="327660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CA0728B-0DDD-470B-B71C-BBDCAFAB48E9}"/>
              </a:ext>
            </a:extLst>
          </p:cNvPr>
          <p:cNvSpPr>
            <a:spLocks noGrp="1"/>
          </p:cNvSpPr>
          <p:nvPr/>
        </p:nvSpPr>
        <p:spPr>
          <a:xfrm>
            <a:off x="4457700" y="4552950"/>
            <a:ext cx="57150" cy="895350"/>
          </a:xfrm>
          <a:prstGeom prst="rect">
            <a:avLst/>
          </a:prstGeom>
          <a:solidFill>
            <a:srgbClr val="9B59B6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4A8E12B-B2B9-4D3B-A9FF-48BC6D73B00A}"/>
              </a:ext>
            </a:extLst>
          </p:cNvPr>
          <p:cNvSpPr>
            <a:spLocks noGrp="1"/>
          </p:cNvSpPr>
          <p:nvPr/>
        </p:nvSpPr>
        <p:spPr>
          <a:xfrm>
            <a:off x="4648200" y="46672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B59B6"/>
                </a:solidFill>
              </a:defRPr>
            </a:pPr>
            <a:r>
              <a:rPr sz="900" b="1">
                <a:solidFill>
                  <a:srgbClr val="9B59B6"/>
                </a:solidFill>
              </a:rPr>
              <a:t>2018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1BDD7FB-2DAF-4743-801F-7ADEE283F4B1}"/>
              </a:ext>
            </a:extLst>
          </p:cNvPr>
          <p:cNvSpPr>
            <a:spLocks noGrp="1"/>
          </p:cNvSpPr>
          <p:nvPr/>
        </p:nvSpPr>
        <p:spPr>
          <a:xfrm>
            <a:off x="4648200" y="489585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Превью продают контент через движение.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420BDFB-E2E8-414F-A0B6-1D0D046D5A68}"/>
              </a:ext>
            </a:extLst>
          </p:cNvPr>
          <p:cNvSpPr>
            <a:spLocks noGrp="1"/>
          </p:cNvSpPr>
          <p:nvPr/>
        </p:nvSpPr>
        <p:spPr>
          <a:xfrm>
            <a:off x="8305800" y="4552950"/>
            <a:ext cx="327660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B63877B-09B1-44B3-A312-4BC166EFF45A}"/>
              </a:ext>
            </a:extLst>
          </p:cNvPr>
          <p:cNvSpPr>
            <a:spLocks noGrp="1"/>
          </p:cNvSpPr>
          <p:nvPr/>
        </p:nvSpPr>
        <p:spPr>
          <a:xfrm>
            <a:off x="8305800" y="455295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E94FF0B-033A-4BB9-A5F6-5C586D391C45}"/>
              </a:ext>
            </a:extLst>
          </p:cNvPr>
          <p:cNvSpPr>
            <a:spLocks noGrp="1"/>
          </p:cNvSpPr>
          <p:nvPr/>
        </p:nvSpPr>
        <p:spPr>
          <a:xfrm>
            <a:off x="8496300" y="46672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2025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0F4C5C4-F68D-4443-B6B2-D90894853AB0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lang="ru-RU" sz="1425" b="1" dirty="0">
                <a:solidFill>
                  <a:srgbClr val="F4EFE8"/>
                </a:solidFill>
              </a:rPr>
              <a:t>Главный экран</a:t>
            </a:r>
            <a:r>
              <a:rPr sz="1425" b="1" dirty="0">
                <a:solidFill>
                  <a:srgbClr val="F4EFE8"/>
                </a:solidFill>
              </a:rPr>
              <a:t> </a:t>
            </a:r>
            <a:r>
              <a:rPr sz="1425" b="1" dirty="0" err="1">
                <a:solidFill>
                  <a:srgbClr val="F4EFE8"/>
                </a:solidFill>
              </a:rPr>
              <a:t>ведёт</a:t>
            </a:r>
            <a:r>
              <a:rPr sz="1425" b="1" dirty="0">
                <a:solidFill>
                  <a:srgbClr val="F4EFE8"/>
                </a:solidFill>
              </a:rPr>
              <a:t> к </a:t>
            </a:r>
            <a:r>
              <a:rPr sz="1425" b="1" dirty="0" err="1">
                <a:solidFill>
                  <a:srgbClr val="F4EFE8"/>
                </a:solidFill>
              </a:rPr>
              <a:t>действию</a:t>
            </a:r>
            <a:r>
              <a:rPr sz="1425" b="1" dirty="0">
                <a:solidFill>
                  <a:srgbClr val="F4EFE8"/>
                </a:solidFill>
              </a:rPr>
              <a:t> </a:t>
            </a:r>
            <a:r>
              <a:rPr sz="1425" b="1" dirty="0" err="1">
                <a:solidFill>
                  <a:srgbClr val="F4EFE8"/>
                </a:solidFill>
              </a:rPr>
              <a:t>ещё</a:t>
            </a:r>
            <a:r>
              <a:rPr sz="1425" b="1" dirty="0">
                <a:solidFill>
                  <a:srgbClr val="F4EFE8"/>
                </a:solidFill>
              </a:rPr>
              <a:t> </a:t>
            </a:r>
            <a:r>
              <a:rPr sz="1425" b="1" dirty="0" err="1">
                <a:solidFill>
                  <a:srgbClr val="F4EFE8"/>
                </a:solidFill>
              </a:rPr>
              <a:t>быстрее</a:t>
            </a:r>
            <a:r>
              <a:rPr sz="1425" b="1" dirty="0">
                <a:solidFill>
                  <a:srgbClr val="F4EFE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80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638787-0A88-4065-B529-64175F270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7A2502-82F8-496A-B3B7-243BBBA3A8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77F7BF-11BC-4710-930A-09FEE9A7E57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ПРИНЦИПЫ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3112A0-1C8F-4BC3-AECA-DED0B4F1E11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191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4EFE8"/>
                </a:solidFill>
              </a:defRPr>
            </a:pPr>
            <a:r>
              <a:rPr sz="2550" b="1">
                <a:solidFill>
                  <a:srgbClr val="F4EFE8"/>
                </a:solidFill>
              </a:rPr>
              <a:t>Три линии эволюции Netflix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46A0F3-D2A4-40C9-9D78-D01C24064736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Если убрать детали, вся трансформация держится на трёх устойчивых принципах.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67C4192-9770-4302-8531-2E3DF853128C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3429000" cy="25336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CCE34B-7BBC-4B96-B1F9-8B0EAC79DF65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723900" cy="571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9D35320-DC47-441C-8BEC-1693DEDF5CE6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EFE8"/>
                </a:solidFill>
              </a:defRPr>
            </a:pPr>
            <a:r>
              <a:rPr sz="2100" b="1">
                <a:solidFill>
                  <a:srgbClr val="F4EFE8"/>
                </a:solidFill>
              </a:rPr>
              <a:t>Меньше текста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C66ABD-CE84-4188-AB60-0FA48AC435A4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Netflix убирает лишние пояснения с первого экрана и делает решение визуальным.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33737A6-1745-40AF-8314-4D3F701185B2}"/>
              </a:ext>
            </a:extLst>
          </p:cNvPr>
          <p:cNvSpPr>
            <a:spLocks noGrp="1"/>
          </p:cNvSpPr>
          <p:nvPr/>
        </p:nvSpPr>
        <p:spPr>
          <a:xfrm>
            <a:off x="4343400" y="2419350"/>
            <a:ext cx="3429000" cy="25336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1F0A86-AE90-47DE-8183-512C0230C485}"/>
              </a:ext>
            </a:extLst>
          </p:cNvPr>
          <p:cNvSpPr>
            <a:spLocks noGrp="1"/>
          </p:cNvSpPr>
          <p:nvPr/>
        </p:nvSpPr>
        <p:spPr>
          <a:xfrm>
            <a:off x="4572000" y="2647950"/>
            <a:ext cx="723900" cy="57150"/>
          </a:xfrm>
          <a:prstGeom prst="rect">
            <a:avLst/>
          </a:prstGeom>
          <a:solidFill>
            <a:srgbClr val="26B6A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7E9A7A-2A1E-49D9-8FD5-D378A4FF9BAF}"/>
              </a:ext>
            </a:extLst>
          </p:cNvPr>
          <p:cNvSpPr>
            <a:spLocks noGrp="1"/>
          </p:cNvSpPr>
          <p:nvPr/>
        </p:nvSpPr>
        <p:spPr>
          <a:xfrm>
            <a:off x="4572000" y="2971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EFE8"/>
                </a:solidFill>
              </a:defRPr>
            </a:pPr>
            <a:r>
              <a:rPr sz="2100" b="1">
                <a:solidFill>
                  <a:srgbClr val="F4EFE8"/>
                </a:solidFill>
              </a:rPr>
              <a:t>Больше персонализации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2955F60-1796-4657-B99F-718A3F256B51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>
                <a:solidFill>
                  <a:srgbClr val="B7B1A9"/>
                </a:solidFill>
              </a:rPr>
              <a:t>Профили, рекомендации и ранний контекст превращают общий каталог в личную ленту.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95734F-0FE2-446E-8533-28D936707869}"/>
              </a:ext>
            </a:extLst>
          </p:cNvPr>
          <p:cNvSpPr>
            <a:spLocks noGrp="1"/>
          </p:cNvSpPr>
          <p:nvPr/>
        </p:nvSpPr>
        <p:spPr>
          <a:xfrm>
            <a:off x="8077200" y="2419350"/>
            <a:ext cx="3429000" cy="25336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3C0721-4279-43CF-9800-7742383CE5E0}"/>
              </a:ext>
            </a:extLst>
          </p:cNvPr>
          <p:cNvSpPr>
            <a:spLocks noGrp="1"/>
          </p:cNvSpPr>
          <p:nvPr/>
        </p:nvSpPr>
        <p:spPr>
          <a:xfrm>
            <a:off x="8305800" y="2647950"/>
            <a:ext cx="723900" cy="57150"/>
          </a:xfrm>
          <a:prstGeom prst="rect">
            <a:avLst/>
          </a:prstGeom>
          <a:solidFill>
            <a:srgbClr val="D6A13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F6F64A8-D36A-4870-9826-400D3EAE7DE3}"/>
              </a:ext>
            </a:extLst>
          </p:cNvPr>
          <p:cNvSpPr>
            <a:spLocks noGrp="1"/>
          </p:cNvSpPr>
          <p:nvPr/>
        </p:nvSpPr>
        <p:spPr>
          <a:xfrm>
            <a:off x="8305800" y="2971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4EFE8"/>
                </a:solidFill>
              </a:defRPr>
            </a:pPr>
            <a:r>
              <a:rPr sz="2100" b="1" dirty="0">
                <a:solidFill>
                  <a:srgbClr val="F4EFE8"/>
                </a:solidFill>
              </a:rPr>
              <a:t>Motion </a:t>
            </a:r>
            <a:r>
              <a:rPr sz="2100" b="1" dirty="0" err="1">
                <a:solidFill>
                  <a:srgbClr val="F4EFE8"/>
                </a:solidFill>
              </a:rPr>
              <a:t>как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sz="2100" b="1" dirty="0" err="1">
                <a:solidFill>
                  <a:srgbClr val="F4EFE8"/>
                </a:solidFill>
              </a:rPr>
              <a:t>часть</a:t>
            </a:r>
            <a:r>
              <a:rPr sz="2100" b="1" dirty="0">
                <a:solidFill>
                  <a:srgbClr val="F4EFE8"/>
                </a:solidFill>
              </a:rPr>
              <a:t> </a:t>
            </a:r>
            <a:r>
              <a:rPr lang="ru-RU" sz="2100" b="1" dirty="0">
                <a:solidFill>
                  <a:srgbClr val="F4EFE8"/>
                </a:solidFill>
              </a:rPr>
              <a:t>дизайна интерфейса</a:t>
            </a:r>
            <a:endParaRPr sz="2100" b="1" dirty="0">
              <a:solidFill>
                <a:srgbClr val="F4EFE8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B573D35-EA67-4D09-AA6A-5FFFC13E4D78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7B1A9"/>
                </a:solidFill>
              </a:defRPr>
            </a:pPr>
            <a:r>
              <a:rPr sz="1350" b="0" dirty="0" err="1">
                <a:solidFill>
                  <a:srgbClr val="B7B1A9"/>
                </a:solidFill>
              </a:rPr>
              <a:t>Превью</a:t>
            </a:r>
            <a:r>
              <a:rPr sz="1350" b="0" dirty="0">
                <a:solidFill>
                  <a:srgbClr val="B7B1A9"/>
                </a:solidFill>
              </a:rPr>
              <a:t> и </a:t>
            </a:r>
            <a:r>
              <a:rPr lang="ru-RU" sz="1350" b="0" dirty="0">
                <a:solidFill>
                  <a:srgbClr val="B7B1A9"/>
                </a:solidFill>
              </a:rPr>
              <a:t>главный экран </a:t>
            </a:r>
            <a:r>
              <a:rPr sz="1350" b="0" dirty="0" err="1">
                <a:solidFill>
                  <a:srgbClr val="B7B1A9"/>
                </a:solidFill>
              </a:rPr>
              <a:t>делают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интерфейс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продолжением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самого</a:t>
            </a:r>
            <a:r>
              <a:rPr sz="1350" b="0" dirty="0">
                <a:solidFill>
                  <a:srgbClr val="B7B1A9"/>
                </a:solidFill>
              </a:rPr>
              <a:t> </a:t>
            </a:r>
            <a:r>
              <a:rPr sz="1350" b="0" dirty="0" err="1">
                <a:solidFill>
                  <a:srgbClr val="B7B1A9"/>
                </a:solidFill>
              </a:rPr>
              <a:t>просмотра</a:t>
            </a:r>
            <a:r>
              <a:rPr sz="1350" b="0" dirty="0">
                <a:solidFill>
                  <a:srgbClr val="B7B1A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980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CEDE44-2A80-4C0A-A733-3AED855A87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D30D03-5BF5-40EA-8060-9695C6AC34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C4BFD9F-8391-44DC-A56F-410DB68ACA4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50914"/>
                </a:solidFill>
              </a:defRPr>
            </a:pPr>
            <a:r>
              <a:rPr sz="1200" b="1">
                <a:solidFill>
                  <a:srgbClr val="E50914"/>
                </a:solidFill>
              </a:rPr>
              <a:t>Вывод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4770E1-E3DA-4662-B075-F0BF67A2002A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533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4EFE8"/>
                </a:solidFill>
              </a:defRPr>
            </a:pPr>
            <a:r>
              <a:rPr sz="3000" b="1">
                <a:solidFill>
                  <a:srgbClr val="F4EFE8"/>
                </a:solidFill>
              </a:rPr>
              <a:t>Netflix эволюционировал</a:t>
            </a:r>
          </a:p>
          <a:p>
            <a:pPr algn="l">
              <a:defRPr sz="3000" b="1">
                <a:solidFill>
                  <a:srgbClr val="F4EFE8"/>
                </a:solidFill>
              </a:defRPr>
            </a:pPr>
            <a:r>
              <a:rPr sz="3000" b="1">
                <a:solidFill>
                  <a:srgbClr val="F4EFE8"/>
                </a:solidFill>
              </a:rPr>
              <a:t>от каталога к выбору по ощущению.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D1E8AC-071E-4D4F-8ACF-6567F5AF2A35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B7B1A9"/>
                </a:solidFill>
              </a:defRPr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новее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и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сильнее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решить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моё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7E9D62-7828-41BD-ABA4-981A3BD8EAA7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4953000" cy="895350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6FA974-81FC-4AE3-9587-60EB5919665E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7150" cy="8953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2DA02E-3F29-4337-BCE6-DB75F9C2BDF4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462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50914"/>
                </a:solidFill>
              </a:defRPr>
            </a:pPr>
            <a:r>
              <a:rPr sz="900" b="1">
                <a:solidFill>
                  <a:srgbClr val="E50914"/>
                </a:solidFill>
              </a:rPr>
              <a:t>ГЛАВНАЯ МЫСЛЬ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6392C2-85B3-438B-8972-0FC5AE42872D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4629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EFE8"/>
                </a:solidFill>
              </a:defRPr>
            </a:pPr>
            <a:r>
              <a:rPr sz="1425" b="1">
                <a:solidFill>
                  <a:srgbClr val="F4EFE8"/>
                </a:solidFill>
              </a:rPr>
              <a:t>Чистый экран не упрощает продукт. Он точнее направляет внимание.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D7E9059-B47E-4474-81E4-121DF7550395}"/>
              </a:ext>
            </a:extLst>
          </p:cNvPr>
          <p:cNvSpPr>
            <a:spLocks noGrp="1"/>
          </p:cNvSpPr>
          <p:nvPr/>
        </p:nvSpPr>
        <p:spPr>
          <a:xfrm>
            <a:off x="5943600" y="2480311"/>
            <a:ext cx="5635668" cy="3253739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87965" y="2575562"/>
            <a:ext cx="5415104" cy="304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6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A210-9B0F-E5F5-1671-93CA4ABE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E247D8F-6426-7B1E-323B-51755093F3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A3981D-2659-FB9E-0AA2-1ECF9B70C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753297-E0F4-5131-87EC-52CB9C842E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F402FE8-0115-66A5-395D-66D95F3590C3}"/>
              </a:ext>
            </a:extLst>
          </p:cNvPr>
          <p:cNvSpPr>
            <a:spLocks noGrp="1"/>
          </p:cNvSpPr>
          <p:nvPr/>
        </p:nvSpPr>
        <p:spPr>
          <a:xfrm>
            <a:off x="3429000" y="1018382"/>
            <a:ext cx="5334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F4EFE8"/>
                </a:solidFill>
              </a:defRPr>
            </a:pPr>
            <a:r>
              <a:rPr lang="ru-RU" sz="3000" b="1" dirty="0">
                <a:solidFill>
                  <a:srgbClr val="F4EFE8"/>
                </a:solidFill>
              </a:rPr>
              <a:t>Спасибо за внимание!</a:t>
            </a:r>
            <a:endParaRPr sz="3000" b="1" dirty="0">
              <a:solidFill>
                <a:srgbClr val="F4EFE8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C94144-0860-FF8B-F81B-05F0C07D67F7}"/>
              </a:ext>
            </a:extLst>
          </p:cNvPr>
          <p:cNvSpPr>
            <a:spLocks noGrp="1"/>
          </p:cNvSpPr>
          <p:nvPr/>
        </p:nvSpPr>
        <p:spPr>
          <a:xfrm>
            <a:off x="2651759" y="2189163"/>
            <a:ext cx="7139941" cy="4135437"/>
          </a:xfrm>
          <a:prstGeom prst="rect">
            <a:avLst/>
          </a:prstGeom>
          <a:solidFill>
            <a:srgbClr val="131313"/>
          </a:solidFill>
          <a:ln w="9525">
            <a:solidFill>
              <a:srgbClr val="2B2B2B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14" name="Picture 2" descr="The King: Timothée Chalamet, Robert Pattinson | Tráiler VOS en ESPAÑOL |  Netflix España">
            <a:extLst>
              <a:ext uri="{FF2B5EF4-FFF2-40B4-BE49-F238E27FC236}">
                <a16:creationId xmlns:a16="http://schemas.microsoft.com/office/drawing/2014/main" id="{14DB4AD6-1CD1-B454-9FBA-544D89E38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836" y="2342301"/>
            <a:ext cx="6846464" cy="385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4427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649</Words>
  <Application>Microsoft Office PowerPoint</Application>
  <DocSecurity>0</DocSecurity>
  <PresentationFormat>Широкоэкранный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Михаил Данилов</cp:lastModifiedBy>
  <cp:revision>16</cp:revision>
  <dcterms:created xsi:type="dcterms:W3CDTF">2026-04-20T21:40:02Z</dcterms:created>
  <dcterms:modified xsi:type="dcterms:W3CDTF">2026-04-20T22:47:16Z</dcterms:modified>
</cp:coreProperties>
</file>