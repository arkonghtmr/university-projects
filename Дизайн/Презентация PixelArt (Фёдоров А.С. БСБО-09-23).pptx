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4F42168-BE52-45D4-B2F0-D2721CEB0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1D45994-D624-461D-B707-1E12BBD98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7D5C83E-6D0F-4F47-BA7B-FE24A18E2BF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A058C7D-9CC4-493A-8314-362CD8C8B01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5A80A1B-EE54-4786-91E2-4532BD623B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BDE0AE0-BFD4-4B57-A443-C3A7046EAA5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526280" y="786384"/>
            <a:ext cx="7086600" cy="4617720"/>
          </a:xfrm>
          <a:prstGeom prst="rect">
            <a:avLst/>
          </a:prstGeom>
          <a:noFill/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7"/>
          </a:solidFill>
          <a:ln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41093" cy="8229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1949" y="0"/>
            <a:ext cx="2041093" cy="82296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898" y="0"/>
            <a:ext cx="2041093" cy="82296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2041093" cy="82296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7796" y="0"/>
            <a:ext cx="2041093" cy="82296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59746" y="0"/>
            <a:ext cx="2041093" cy="82296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ite-hero.png"/>
          <p:cNvPicPr>
            <a:picLocks noChangeAspect="1"/>
          </p:cNvPicPr>
          <p:nvPr/>
        </p:nvPicPr>
        <p:blipFill>
          <a:blip r:embed="rId2"/>
          <a:srcRect l="2042" r="2042"/>
          <a:stretch>
            <a:fillRect/>
          </a:stretch>
        </p:blipFill>
        <p:spPr>
          <a:xfrm>
            <a:off x="4526280" y="786384"/>
            <a:ext cx="7086600" cy="46177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0"/>
            <a:ext cx="4343400" cy="6858000"/>
          </a:xfrm>
          <a:prstGeom prst="rect">
            <a:avLst/>
          </a:prstGeom>
          <a:solidFill>
            <a:srgbClr val="050508"/>
          </a:solidFill>
          <a:ln>
            <a:solidFill>
              <a:srgbClr val="0505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713232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dirty="0">
                <a:solidFill>
                  <a:srgbClr val="26B6A4"/>
                </a:solidFill>
                <a:latin typeface="Aptos"/>
              </a:rPr>
              <a:t>ГОТОВЫЙ САЙТ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078992"/>
            <a:ext cx="333756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700" b="1">
                <a:solidFill>
                  <a:srgbClr val="F4EFE8"/>
                </a:solidFill>
                <a:latin typeface="Aptos Display"/>
              </a:rPr>
              <a:t>Лендинг</a:t>
            </a:r>
          </a:p>
          <a:p>
            <a:pPr algn="l"/>
            <a:r>
              <a:rPr sz="3700" b="1">
                <a:solidFill>
                  <a:srgbClr val="F4EFE8"/>
                </a:solidFill>
                <a:latin typeface="Aptos Display"/>
              </a:rPr>
              <a:t>PixelArt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359152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D5D7E4"/>
                </a:solidFill>
                <a:latin typeface="Aptos"/>
              </a:rPr>
              <a:t>Моушн-дизайн с нуля</a:t>
            </a:r>
          </a:p>
          <a:p>
            <a:pPr algn="l"/>
            <a:r>
              <a:rPr sz="1600" b="0">
                <a:solidFill>
                  <a:srgbClr val="D5D7E4"/>
                </a:solidFill>
                <a:latin typeface="Aptos"/>
              </a:rPr>
              <a:t>HTML + CSS + JS реализация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3063240" cy="685800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794760"/>
            <a:ext cx="64008" cy="68580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9502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8B5CF6"/>
                </a:solidFill>
                <a:latin typeface="Aptos"/>
              </a:rPr>
              <a:t>ОСНОВА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18795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практики.docx, ПЗ2, ПЗ3, сайт pr7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681728"/>
            <a:ext cx="3063240" cy="74980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4681728"/>
            <a:ext cx="64008" cy="749808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4837176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EC4899"/>
                </a:solidFill>
                <a:latin typeface="Aptos"/>
              </a:rPr>
              <a:t>АВТОР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074920"/>
            <a:ext cx="2743200" cy="2926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Фёдоров А.С., БСБО-09-23</a:t>
            </a:r>
          </a:p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Дисциплина: дизайн интерфейсов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687568"/>
            <a:ext cx="3063240" cy="329184"/>
          </a:xfrm>
          <a:prstGeom prst="roundRect">
            <a:avLst/>
          </a:prstGeom>
          <a:solidFill>
            <a:srgbClr val="26B6A4"/>
          </a:solidFill>
          <a:ln w="12700"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" y="5769864"/>
            <a:ext cx="2843784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F4EFE8"/>
                </a:solidFill>
                <a:latin typeface="Aptos"/>
              </a:rPr>
              <a:t>исследование → архитектура → реализация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7"/>
          </a:solidFill>
          <a:ln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41093" cy="8229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1949" y="0"/>
            <a:ext cx="2041093" cy="82296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898" y="0"/>
            <a:ext cx="2041093" cy="82296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2041093" cy="82296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7796" y="0"/>
            <a:ext cx="2041093" cy="82296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59746" y="0"/>
            <a:ext cx="2041093" cy="82296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89611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>
                <a:solidFill>
                  <a:srgbClr val="F4EFE8"/>
                </a:solidFill>
                <a:latin typeface="Aptos Display"/>
              </a:rPr>
              <a:t>Как проект дошёл до готового сайта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444752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D5D7E4"/>
                </a:solidFill>
                <a:latin typeface="Aptos"/>
              </a:rPr>
              <a:t>Шесть этапов связывают исследование, информационную архитектуру и итоговую HTML/CSS/JS-реализацию.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3227832"/>
            <a:ext cx="9966960" cy="22860"/>
          </a:xfrm>
          <a:prstGeom prst="rect">
            <a:avLst/>
          </a:prstGeom>
          <a:solidFill>
            <a:srgbClr val="484452"/>
          </a:solidFill>
          <a:ln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8" y="3063240"/>
            <a:ext cx="420624" cy="420624"/>
          </a:xfrm>
          <a:prstGeom prst="ellipse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540" y="318211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F4EFE8"/>
                </a:solidFill>
                <a:latin typeface="Aptos"/>
              </a:rPr>
              <a:t>ПЗ2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776472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F4EFE8"/>
                </a:solidFill>
                <a:latin typeface="Aptos"/>
              </a:rPr>
              <a:t>Исследование</a:t>
            </a:r>
          </a:p>
          <a:p>
            <a:pPr algn="ctr"/>
            <a:r>
              <a:rPr sz="1200" b="1">
                <a:solidFill>
                  <a:srgbClr val="F4EFE8"/>
                </a:solidFill>
                <a:latin typeface="Aptos"/>
              </a:rPr>
              <a:t>проекта</a:t>
            </a:r>
          </a:p>
        </p:txBody>
      </p:sp>
      <p:sp>
        <p:nvSpPr>
          <p:cNvPr id="18" name="Oval 17"/>
          <p:cNvSpPr/>
          <p:nvPr/>
        </p:nvSpPr>
        <p:spPr>
          <a:xfrm>
            <a:off x="2825496" y="3063240"/>
            <a:ext cx="420624" cy="420624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75788" y="318211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F4EFE8"/>
                </a:solidFill>
                <a:latin typeface="Aptos"/>
              </a:rPr>
              <a:t>ЦА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776472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F4EFE8"/>
                </a:solidFill>
                <a:latin typeface="Aptos"/>
              </a:rPr>
              <a:t>Потребности</a:t>
            </a:r>
          </a:p>
          <a:p>
            <a:pPr algn="ctr"/>
            <a:r>
              <a:rPr sz="1200" b="1">
                <a:solidFill>
                  <a:srgbClr val="F4EFE8"/>
                </a:solidFill>
                <a:latin typeface="Aptos"/>
              </a:rPr>
              <a:t>и страхи</a:t>
            </a:r>
          </a:p>
        </p:txBody>
      </p:sp>
      <p:sp>
        <p:nvSpPr>
          <p:cNvPr id="21" name="Oval 20"/>
          <p:cNvSpPr/>
          <p:nvPr/>
        </p:nvSpPr>
        <p:spPr>
          <a:xfrm>
            <a:off x="4809744" y="3063240"/>
            <a:ext cx="420624" cy="420624"/>
          </a:xfrm>
          <a:prstGeom prst="ellipse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60036" y="318211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F4EFE8"/>
                </a:solidFill>
                <a:latin typeface="Aptos"/>
              </a:rPr>
              <a:t>ПЗ3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3776472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F4EFE8"/>
                </a:solidFill>
                <a:latin typeface="Aptos"/>
              </a:rPr>
              <a:t>Информационная</a:t>
            </a:r>
          </a:p>
          <a:p>
            <a:pPr algn="ctr"/>
            <a:r>
              <a:rPr sz="1200" b="1">
                <a:solidFill>
                  <a:srgbClr val="F4EFE8"/>
                </a:solidFill>
                <a:latin typeface="Aptos"/>
              </a:rPr>
              <a:t>архитектура</a:t>
            </a:r>
          </a:p>
        </p:txBody>
      </p:sp>
      <p:sp>
        <p:nvSpPr>
          <p:cNvPr id="24" name="Oval 23"/>
          <p:cNvSpPr/>
          <p:nvPr/>
        </p:nvSpPr>
        <p:spPr>
          <a:xfrm>
            <a:off x="6793992" y="3063240"/>
            <a:ext cx="420624" cy="420624"/>
          </a:xfrm>
          <a:prstGeom prst="ellipse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44283" y="318211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F4EFE8"/>
                </a:solidFill>
                <a:latin typeface="Aptos"/>
              </a:rPr>
              <a:t>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776472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F4EFE8"/>
                </a:solidFill>
                <a:latin typeface="Aptos"/>
              </a:rPr>
              <a:t>Темная визуальная</a:t>
            </a:r>
          </a:p>
          <a:p>
            <a:pPr algn="ctr"/>
            <a:r>
              <a:rPr sz="1200" b="1">
                <a:solidFill>
                  <a:srgbClr val="F4EFE8"/>
                </a:solidFill>
                <a:latin typeface="Aptos"/>
              </a:rPr>
              <a:t>система</a:t>
            </a:r>
          </a:p>
        </p:txBody>
      </p:sp>
      <p:sp>
        <p:nvSpPr>
          <p:cNvPr id="27" name="Oval 26"/>
          <p:cNvSpPr/>
          <p:nvPr/>
        </p:nvSpPr>
        <p:spPr>
          <a:xfrm>
            <a:off x="8778240" y="3063240"/>
            <a:ext cx="420624" cy="420624"/>
          </a:xfrm>
          <a:prstGeom prst="ellipse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28532" y="318211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F4EFE8"/>
                </a:solidFill>
                <a:latin typeface="Aptos"/>
              </a:rPr>
              <a:t>pr7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3776472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F4EFE8"/>
                </a:solidFill>
                <a:latin typeface="Aptos"/>
              </a:rPr>
              <a:t>Верстка</a:t>
            </a:r>
          </a:p>
          <a:p>
            <a:pPr algn="ctr"/>
            <a:r>
              <a:rPr sz="1200" b="1">
                <a:solidFill>
                  <a:srgbClr val="F4EFE8"/>
                </a:solidFill>
                <a:latin typeface="Aptos"/>
              </a:rPr>
              <a:t>лендинга</a:t>
            </a:r>
          </a:p>
        </p:txBody>
      </p:sp>
      <p:sp>
        <p:nvSpPr>
          <p:cNvPr id="30" name="Oval 29"/>
          <p:cNvSpPr/>
          <p:nvPr/>
        </p:nvSpPr>
        <p:spPr>
          <a:xfrm>
            <a:off x="10762488" y="3063240"/>
            <a:ext cx="420624" cy="420624"/>
          </a:xfrm>
          <a:prstGeom prst="ellipse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12780" y="3182112"/>
            <a:ext cx="32004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F4EFE8"/>
                </a:solidFill>
                <a:latin typeface="Aptos"/>
              </a:rPr>
              <a:t>QA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51592" y="3776472"/>
            <a:ext cx="105156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F4EFE8"/>
                </a:solidFill>
                <a:latin typeface="Aptos"/>
              </a:rPr>
              <a:t>Адаптивность</a:t>
            </a:r>
          </a:p>
          <a:p>
            <a:pPr algn="ctr"/>
            <a:r>
              <a:rPr sz="1200" b="1">
                <a:solidFill>
                  <a:srgbClr val="F4EFE8"/>
                </a:solidFill>
                <a:latin typeface="Aptos"/>
              </a:rPr>
              <a:t>и проверка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5010912"/>
            <a:ext cx="10058400" cy="749808"/>
          </a:xfrm>
          <a:prstGeom prst="roundRect">
            <a:avLst/>
          </a:prstGeom>
          <a:solidFill>
            <a:srgbClr val="1F1B2D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417320" y="5266944"/>
            <a:ext cx="9372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500" b="0">
                <a:solidFill>
                  <a:srgbClr val="F4EFE8"/>
                </a:solidFill>
                <a:latin typeface="Aptos"/>
              </a:rPr>
              <a:t>Итоговая страница сохраняет проектную логику: сначала оффер, затем доказательства ценности, программа, доверие, тарифы и снятие возражений.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B7B1A9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7"/>
          </a:solidFill>
          <a:ln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41093" cy="8229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1949" y="0"/>
            <a:ext cx="2041093" cy="82296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898" y="0"/>
            <a:ext cx="2041093" cy="82296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2041093" cy="82296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7796" y="0"/>
            <a:ext cx="2041093" cy="82296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59746" y="0"/>
            <a:ext cx="2041093" cy="82296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89611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>
                <a:solidFill>
                  <a:srgbClr val="F4EFE8"/>
                </a:solidFill>
                <a:latin typeface="Aptos Display"/>
              </a:rPr>
              <a:t>Исследование: что должен решать лендинг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444752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D5D7E4"/>
                </a:solidFill>
                <a:latin typeface="Aptos"/>
              </a:rPr>
              <a:t>Отчет ПЗ2 задает тему, целевое действие, аудиторию, УТП и конкурентный контекст.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240280"/>
            <a:ext cx="3657600" cy="786384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240280"/>
            <a:ext cx="64008" cy="786384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395728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8B5CF6"/>
                </a:solidFill>
                <a:latin typeface="Aptos"/>
              </a:rPr>
              <a:t>ФОКУС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633472"/>
            <a:ext cx="33375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Товарный лендинг для продажи курса или заявки на бесплатную консультацию.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218688"/>
            <a:ext cx="3657600" cy="786384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218688"/>
            <a:ext cx="64008" cy="786384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374136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EC4899"/>
                </a:solidFill>
                <a:latin typeface="Aptos"/>
              </a:rPr>
              <a:t>ЦЕЛЬ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611880"/>
            <a:ext cx="33375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Конвертировать посетителей в учеников: показать ценность обучения и снизить страхи.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197096"/>
            <a:ext cx="3657600" cy="786384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197096"/>
            <a:ext cx="64008" cy="786384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4352544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26B6A4"/>
                </a:solidFill>
                <a:latin typeface="Aptos"/>
              </a:rPr>
              <a:t>УТП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590288"/>
            <a:ext cx="33375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2 месяца, 2D/3D-анимация, After Effects и Cinema 4D, портфолио из 5 работ.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175504"/>
            <a:ext cx="3657600" cy="786384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5175504"/>
            <a:ext cx="64008" cy="786384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5330952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4B78FF"/>
                </a:solidFill>
                <a:latin typeface="Aptos"/>
              </a:rPr>
              <a:t>КОНТЕКСТ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5568696"/>
            <a:ext cx="33375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Темная тема и шоурил выбраны как уместные паттерны для сферы motion-дизайна.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20" y="1874519"/>
            <a:ext cx="6080760" cy="4270248"/>
          </a:xfrm>
          <a:prstGeom prst="rect">
            <a:avLst/>
          </a:prstGeom>
          <a:solidFill>
            <a:srgbClr val="0A0A0C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pz2-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502" y="1874519"/>
            <a:ext cx="3019594" cy="42702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4360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B7B1A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4681728" y="1938528"/>
            <a:ext cx="6675120" cy="3977639"/>
          </a:xfrm>
          <a:prstGeom prst="rect">
            <a:avLst/>
          </a:prstGeom>
          <a:noFill/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7"/>
          </a:solidFill>
          <a:ln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41093" cy="8229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1949" y="0"/>
            <a:ext cx="2041093" cy="82296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898" y="0"/>
            <a:ext cx="2041093" cy="82296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2041093" cy="82296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7796" y="0"/>
            <a:ext cx="2041093" cy="82296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59746" y="0"/>
            <a:ext cx="2041093" cy="82296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89611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>
                <a:solidFill>
                  <a:srgbClr val="F4EFE8"/>
                </a:solidFill>
                <a:latin typeface="Aptos Display"/>
              </a:rPr>
              <a:t>Кому продает сайт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444752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D5D7E4"/>
                </a:solidFill>
                <a:latin typeface="Aptos"/>
              </a:rPr>
              <a:t>Смысловые блоки повторяют исследованные сегменты и отвечают на их основные сомнения.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148840"/>
            <a:ext cx="3657600" cy="74980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148840"/>
            <a:ext cx="64008" cy="74980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304288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8B5CF6"/>
                </a:solidFill>
                <a:latin typeface="Aptos"/>
              </a:rPr>
              <a:t>НОВИЧКИ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542032"/>
            <a:ext cx="3337560" cy="2926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Нужна понятная пошаговая программа и ощущение, что можно начать без опыта.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108960"/>
            <a:ext cx="3657600" cy="74980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108960"/>
            <a:ext cx="64008" cy="749808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264408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EC4899"/>
                </a:solidFill>
                <a:latin typeface="Aptos"/>
              </a:rPr>
              <a:t>СМЕНА ПРОФЕССИИ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502152"/>
            <a:ext cx="3337560" cy="2926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Важны доход, удаленный формат, карьерная поддержка и первые заказы.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069080"/>
            <a:ext cx="3657600" cy="74980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069080"/>
            <a:ext cx="64008" cy="749808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4224528"/>
            <a:ext cx="33375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26B6A4"/>
                </a:solidFill>
                <a:latin typeface="Aptos"/>
              </a:rPr>
              <a:t>ДИЗАЙНЕРЫ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462272"/>
            <a:ext cx="3337560" cy="2926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Нужен новый навык для портфолио: 2D/3D-анимация и showreel.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212080"/>
            <a:ext cx="3657600" cy="713232"/>
          </a:xfrm>
          <a:prstGeom prst="roundRect">
            <a:avLst/>
          </a:prstGeom>
          <a:solidFill>
            <a:srgbClr val="1F1B2D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458968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200" b="0">
                <a:solidFill>
                  <a:srgbClr val="F4EFE8"/>
                </a:solidFill>
                <a:latin typeface="Aptos"/>
              </a:rPr>
              <a:t>Главная UX-задача: закрыть страхи «нет таланта», «курс окажется водой», «после курса не будет клиентов».</a:t>
            </a:r>
          </a:p>
        </p:txBody>
      </p:sp>
      <p:pic>
        <p:nvPicPr>
          <p:cNvPr id="28" name="Picture 27" descr="site-audience.png"/>
          <p:cNvPicPr>
            <a:picLocks noChangeAspect="1"/>
          </p:cNvPicPr>
          <p:nvPr/>
        </p:nvPicPr>
        <p:blipFill>
          <a:blip r:embed="rId2"/>
          <a:srcRect l="19642" r="19642"/>
          <a:stretch>
            <a:fillRect/>
          </a:stretch>
        </p:blipFill>
        <p:spPr>
          <a:xfrm>
            <a:off x="4681728" y="1938528"/>
            <a:ext cx="6675120" cy="397763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60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B7B1A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7"/>
          </a:solidFill>
          <a:ln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41093" cy="8229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1949" y="0"/>
            <a:ext cx="2041093" cy="82296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898" y="0"/>
            <a:ext cx="2041093" cy="82296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2041093" cy="82296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7796" y="0"/>
            <a:ext cx="2041093" cy="82296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59746" y="0"/>
            <a:ext cx="2041093" cy="82296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89611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>
                <a:solidFill>
                  <a:srgbClr val="F4EFE8"/>
                </a:solidFill>
                <a:latin typeface="Aptos Display"/>
              </a:rPr>
              <a:t>Информационная архитектура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444752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D5D7E4"/>
                </a:solidFill>
                <a:latin typeface="Aptos"/>
              </a:rPr>
              <a:t>Одностраничный сайт построен как последовательность аргументов: от внимания к доверию и покупке.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176272"/>
            <a:ext cx="3611880" cy="74980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176272"/>
            <a:ext cx="64008" cy="74980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331720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8B5CF6"/>
                </a:solidFill>
                <a:latin typeface="Aptos"/>
              </a:rPr>
              <a:t>ПЕРВЫЙ ЭКРАН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569464"/>
            <a:ext cx="3291840" cy="2926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Заголовок, динамичный визуал и CTA сразу объясняют предложение.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090672"/>
            <a:ext cx="3611880" cy="74980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090672"/>
            <a:ext cx="64008" cy="749808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246120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EC4899"/>
                </a:solidFill>
                <a:latin typeface="Aptos"/>
              </a:rPr>
              <a:t>ЦЕННОСТЬ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483864"/>
            <a:ext cx="3291840" cy="2926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Аудитория, результаты, программа, работы выпускников и преподаватели раскрывают пользу.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005072"/>
            <a:ext cx="3611880" cy="74980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005072"/>
            <a:ext cx="64008" cy="749808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4160520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26B6A4"/>
                </a:solidFill>
                <a:latin typeface="Aptos"/>
              </a:rPr>
              <a:t>КОНВЕРСИЯ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398264"/>
            <a:ext cx="3291840" cy="2926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Тарифы, FAQ и футер снимают последние возражения перед заявкой.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919472"/>
            <a:ext cx="3611880" cy="74980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4919472"/>
            <a:ext cx="64008" cy="749808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5074920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4B78FF"/>
                </a:solidFill>
                <a:latin typeface="Aptos"/>
              </a:rPr>
              <a:t>ПАТТЕРН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5312664"/>
            <a:ext cx="3291840" cy="2926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Аккордеоны и карточки уменьшают когнитивную нагрузку на длинной странице.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1847088"/>
            <a:ext cx="6446520" cy="4343400"/>
          </a:xfrm>
          <a:prstGeom prst="rect">
            <a:avLst/>
          </a:prstGeom>
          <a:solidFill>
            <a:srgbClr val="0A0A0C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pz3-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198" y="1847088"/>
            <a:ext cx="3071322" cy="4343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4360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B7B1A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4572000" y="1847088"/>
            <a:ext cx="7040880" cy="4434840"/>
          </a:xfrm>
          <a:prstGeom prst="rect">
            <a:avLst/>
          </a:prstGeom>
          <a:noFill/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7"/>
          </a:solidFill>
          <a:ln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41093" cy="8229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1949" y="0"/>
            <a:ext cx="2041093" cy="82296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898" y="0"/>
            <a:ext cx="2041093" cy="82296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2041093" cy="82296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7796" y="0"/>
            <a:ext cx="2041093" cy="82296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59746" y="0"/>
            <a:ext cx="2041093" cy="82296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89611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>
                <a:solidFill>
                  <a:srgbClr val="F4EFE8"/>
                </a:solidFill>
                <a:latin typeface="Aptos Display"/>
              </a:rPr>
              <a:t>Первый экран работает как оффер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444752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D5D7E4"/>
                </a:solidFill>
                <a:latin typeface="Aptos"/>
              </a:rPr>
              <a:t>Главный экран сочетает УТП, дату старта, два CTA, метрики курса и motion-визуал на canvas.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84831"/>
            <a:ext cx="3611880" cy="74980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084831"/>
            <a:ext cx="64008" cy="74980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240279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8B5CF6"/>
                </a:solidFill>
                <a:latin typeface="Aptos"/>
              </a:rPr>
              <a:t>ФОКУС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478024"/>
            <a:ext cx="3291840" cy="2926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«Моушн-дизайн с нуля» — пользователь сразу понимает продукт.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999232"/>
            <a:ext cx="3611880" cy="74980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2999232"/>
            <a:ext cx="64008" cy="749808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154679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EC4899"/>
                </a:solidFill>
                <a:latin typeface="Aptos"/>
              </a:rPr>
              <a:t>ПАТТЕРН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392424"/>
            <a:ext cx="3291840" cy="2926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Две кнопки разделяют горячее действие и мягкую консультацию.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913632"/>
            <a:ext cx="3611880" cy="93268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913632"/>
            <a:ext cx="64008" cy="932688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4069080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26B6A4"/>
                </a:solidFill>
                <a:latin typeface="Aptos"/>
              </a:rPr>
              <a:t>ЭФФЕКТ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306824"/>
            <a:ext cx="329184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Шоурил-экран и статистика обещают практический результат: 2 месяца, 5 проектов, 100% практики.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230368"/>
            <a:ext cx="3611880" cy="329184"/>
          </a:xfrm>
          <a:prstGeom prst="roundRect">
            <a:avLst/>
          </a:prstGeom>
          <a:solidFill>
            <a:srgbClr val="4B78FF"/>
          </a:solidFill>
          <a:ln w="12700"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5312664"/>
            <a:ext cx="3392424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F4EFE8"/>
                </a:solidFill>
                <a:latin typeface="Aptos"/>
              </a:rPr>
              <a:t>hero / CTA / canvas animation</a:t>
            </a:r>
          </a:p>
        </p:txBody>
      </p:sp>
      <p:pic>
        <p:nvPicPr>
          <p:cNvPr id="28" name="Picture 27" descr="site-hero.png"/>
          <p:cNvPicPr>
            <a:picLocks noChangeAspect="1"/>
          </p:cNvPicPr>
          <p:nvPr/>
        </p:nvPicPr>
        <p:blipFill>
          <a:blip r:embed="rId2"/>
          <a:srcRect l="387" r="387"/>
          <a:stretch>
            <a:fillRect/>
          </a:stretch>
        </p:blipFill>
        <p:spPr>
          <a:xfrm>
            <a:off x="4572000" y="1847088"/>
            <a:ext cx="7040880" cy="44348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60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B7B1A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6263640" y="2084831"/>
            <a:ext cx="5321808" cy="3520440"/>
          </a:xfrm>
          <a:prstGeom prst="rect">
            <a:avLst/>
          </a:prstGeom>
          <a:noFill/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084831"/>
            <a:ext cx="5321808" cy="3520440"/>
          </a:xfrm>
          <a:prstGeom prst="rect">
            <a:avLst/>
          </a:prstGeom>
          <a:noFill/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7"/>
          </a:solidFill>
          <a:ln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41093" cy="8229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1949" y="0"/>
            <a:ext cx="2041093" cy="82296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898" y="0"/>
            <a:ext cx="2041093" cy="82296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2041093" cy="82296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7796" y="0"/>
            <a:ext cx="2041093" cy="82296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59746" y="0"/>
            <a:ext cx="2041093" cy="82296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89611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>
                <a:solidFill>
                  <a:srgbClr val="F4EFE8"/>
                </a:solidFill>
                <a:latin typeface="Aptos Display"/>
              </a:rPr>
              <a:t>Программа и материалы не перегружают страницу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444752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D5D7E4"/>
                </a:solidFill>
                <a:latin typeface="Aptos"/>
              </a:rPr>
              <a:t>Длинный учебный контент спрятан в управляемые блоки и встроенные PDF-фреймы.</a:t>
            </a:r>
          </a:p>
        </p:txBody>
      </p:sp>
      <p:pic>
        <p:nvPicPr>
          <p:cNvPr id="14" name="Picture 13" descr="site-program.png"/>
          <p:cNvPicPr>
            <a:picLocks noChangeAspect="1"/>
          </p:cNvPicPr>
          <p:nvPr/>
        </p:nvPicPr>
        <p:blipFill>
          <a:blip r:embed="rId2"/>
          <a:srcRect l="240" r="240"/>
          <a:stretch>
            <a:fillRect/>
          </a:stretch>
        </p:blipFill>
        <p:spPr>
          <a:xfrm>
            <a:off x="594360" y="2084831"/>
            <a:ext cx="5321808" cy="3520440"/>
          </a:xfrm>
          <a:prstGeom prst="rect">
            <a:avLst/>
          </a:prstGeom>
        </p:spPr>
      </p:pic>
      <p:pic>
        <p:nvPicPr>
          <p:cNvPr id="16" name="Picture 15" descr="site-frames.png"/>
          <p:cNvPicPr>
            <a:picLocks noChangeAspect="1"/>
          </p:cNvPicPr>
          <p:nvPr/>
        </p:nvPicPr>
        <p:blipFill>
          <a:blip r:embed="rId3"/>
          <a:srcRect l="11001" r="11001"/>
          <a:stretch>
            <a:fillRect/>
          </a:stretch>
        </p:blipFill>
        <p:spPr>
          <a:xfrm>
            <a:off x="6263640" y="2084831"/>
            <a:ext cx="5321808" cy="3520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5840" y="58064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8B5CF6"/>
                </a:solidFill>
                <a:latin typeface="Aptos Display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89788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D5D7E4"/>
                </a:solidFill>
                <a:latin typeface="Aptos"/>
              </a:rPr>
              <a:t>недель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8064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EC4899"/>
                </a:solidFill>
                <a:latin typeface="Aptos Display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589788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D5D7E4"/>
                </a:solidFill>
                <a:latin typeface="Aptos"/>
              </a:rPr>
              <a:t>модуля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8064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6B6A4"/>
                </a:solidFill>
                <a:latin typeface="Aptos Display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89788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D5D7E4"/>
                </a:solidFill>
                <a:latin typeface="Aptos"/>
              </a:rPr>
              <a:t>PDF-фрейма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5669280"/>
            <a:ext cx="4297680" cy="640080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92240" y="5669280"/>
            <a:ext cx="64008" cy="640080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93407" y="5824728"/>
            <a:ext cx="39776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D6A13A"/>
                </a:solidFill>
                <a:latin typeface="Aptos"/>
              </a:rPr>
              <a:t>UX-ПРИЕМ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7" y="6062472"/>
            <a:ext cx="3977640" cy="1828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Аккордеон раскрывает расписание постепенно.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B7B1A9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713232" y="1627632"/>
            <a:ext cx="10771632" cy="3886200"/>
          </a:xfrm>
          <a:prstGeom prst="rect">
            <a:avLst/>
          </a:prstGeom>
          <a:noFill/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7"/>
          </a:solidFill>
          <a:ln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41093" cy="8229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1949" y="0"/>
            <a:ext cx="2041093" cy="82296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898" y="0"/>
            <a:ext cx="2041093" cy="82296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2041093" cy="82296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7796" y="0"/>
            <a:ext cx="2041093" cy="82296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59746" y="0"/>
            <a:ext cx="2041093" cy="82296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89611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>
                <a:solidFill>
                  <a:srgbClr val="F4EFE8"/>
                </a:solidFill>
                <a:latin typeface="Aptos Display"/>
              </a:rPr>
              <a:t>Работы выпускников продают результат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444752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D5D7E4"/>
                </a:solidFill>
                <a:latin typeface="Aptos"/>
              </a:rPr>
              <a:t>Галерея заменяет абстрактные обещания визуальным доказательством уровня курса.</a:t>
            </a:r>
          </a:p>
        </p:txBody>
      </p:sp>
      <p:pic>
        <p:nvPicPr>
          <p:cNvPr id="14" name="Picture 13" descr="site-works.png"/>
          <p:cNvPicPr>
            <a:picLocks noChangeAspect="1"/>
          </p:cNvPicPr>
          <p:nvPr/>
        </p:nvPicPr>
        <p:blipFill>
          <a:blip r:embed="rId2"/>
          <a:srcRect t="21233" b="21233"/>
          <a:stretch>
            <a:fillRect/>
          </a:stretch>
        </p:blipFill>
        <p:spPr>
          <a:xfrm>
            <a:off x="713232" y="1627632"/>
            <a:ext cx="10771632" cy="38862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13232" y="5641848"/>
            <a:ext cx="3246120" cy="713232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" y="5641848"/>
            <a:ext cx="64008" cy="71323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797296"/>
            <a:ext cx="2926079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8B5CF6"/>
                </a:solidFill>
                <a:latin typeface="Aptos"/>
              </a:rPr>
              <a:t>9 РАБОТ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35040"/>
            <a:ext cx="2926079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9 примеров: заставки, 3D, типографика.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5641848"/>
            <a:ext cx="3246120" cy="713232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62272" y="5641848"/>
            <a:ext cx="64008" cy="71323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5797296"/>
            <a:ext cx="2926079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EC4899"/>
                </a:solidFill>
                <a:latin typeface="Aptos"/>
              </a:rPr>
              <a:t>MOTION-ПАТТЕРН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6035040"/>
            <a:ext cx="2926079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Play-иконка задает ожидание видео.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5641848"/>
            <a:ext cx="3246120" cy="713232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11312" y="5641848"/>
            <a:ext cx="64008" cy="713232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5797296"/>
            <a:ext cx="2926079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26B6A4"/>
                </a:solidFill>
                <a:latin typeface="Aptos"/>
              </a:rPr>
              <a:t>ДОВЕРИЕ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6035040"/>
            <a:ext cx="2926079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Портфолио показывает итог обучения.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B7B1A9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4572000" y="1700784"/>
            <a:ext cx="7040880" cy="4526280"/>
          </a:xfrm>
          <a:prstGeom prst="rect">
            <a:avLst/>
          </a:prstGeom>
          <a:noFill/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7"/>
          </a:solidFill>
          <a:ln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41093" cy="8229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1949" y="0"/>
            <a:ext cx="2041093" cy="82296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898" y="0"/>
            <a:ext cx="2041093" cy="82296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2041093" cy="82296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7796" y="0"/>
            <a:ext cx="2041093" cy="82296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59746" y="0"/>
            <a:ext cx="2041093" cy="82296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89611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>
                <a:solidFill>
                  <a:srgbClr val="F4EFE8"/>
                </a:solidFill>
                <a:latin typeface="Aptos Display"/>
              </a:rPr>
              <a:t>Тарифы и доверие закрывают путь к заявке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444752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D5D7E4"/>
                </a:solidFill>
                <a:latin typeface="Aptos"/>
              </a:rPr>
              <a:t>После доказательств ценности сайт показывает варианты оплаты и усиливает доверие через преподавателей.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176272"/>
            <a:ext cx="3611880" cy="868680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176272"/>
            <a:ext cx="64008" cy="86868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2331720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8B5CF6"/>
                </a:solidFill>
                <a:latin typeface="Aptos"/>
              </a:rPr>
              <a:t>ПРЕПОДАВАТЕЛИ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2569464"/>
            <a:ext cx="3291840" cy="4114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Три карточки специалистов: арт-директор, lead motion designer и freelance motion designer.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246120"/>
            <a:ext cx="3611880" cy="868680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246120"/>
            <a:ext cx="64008" cy="868680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401568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EC4899"/>
                </a:solidFill>
                <a:latin typeface="Aptos"/>
              </a:rPr>
              <a:t>ТАРИФЫ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639312"/>
            <a:ext cx="3291840" cy="4114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Два сценария покупки: «Стандарт» и «С наставником» с выделением популярного варианта.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315968"/>
            <a:ext cx="3611880" cy="868680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315968"/>
            <a:ext cx="64008" cy="868680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4471416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26B6A4"/>
                </a:solidFill>
                <a:latin typeface="Aptos"/>
              </a:rPr>
              <a:t>СНЯТИЕ БАРЬЕРА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4709159"/>
            <a:ext cx="3291840" cy="4114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Указана рассрочка на 4 месяца и повторный CTA на консультацию.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577840"/>
            <a:ext cx="3611880" cy="329184"/>
          </a:xfrm>
          <a:prstGeom prst="roundRect">
            <a:avLst/>
          </a:prstGeom>
          <a:solidFill>
            <a:srgbClr val="D6A13A"/>
          </a:solidFill>
          <a:ln w="12700"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5660136"/>
            <a:ext cx="3392424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900" b="1">
                <a:solidFill>
                  <a:srgbClr val="F4EFE8"/>
                </a:solidFill>
                <a:latin typeface="Aptos"/>
              </a:rPr>
              <a:t>29 900 ₽ / 49 900 ₽</a:t>
            </a:r>
          </a:p>
        </p:txBody>
      </p:sp>
      <p:pic>
        <p:nvPicPr>
          <p:cNvPr id="28" name="Picture 27" descr="site-pricing.png"/>
          <p:cNvPicPr>
            <a:picLocks noChangeAspect="1"/>
          </p:cNvPicPr>
          <p:nvPr/>
        </p:nvPicPr>
        <p:blipFill>
          <a:blip r:embed="rId2"/>
          <a:srcRect l="1605" r="1605"/>
          <a:stretch>
            <a:fillRect/>
          </a:stretch>
        </p:blipFill>
        <p:spPr>
          <a:xfrm>
            <a:off x="4572000" y="1700784"/>
            <a:ext cx="7040880" cy="45262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60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B7B1A9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7"/>
          </a:solidFill>
          <a:ln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41093" cy="8229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1949" y="0"/>
            <a:ext cx="2041093" cy="82296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898" y="0"/>
            <a:ext cx="2041093" cy="82296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2041093" cy="82296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7796" y="0"/>
            <a:ext cx="2041093" cy="82296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59746" y="0"/>
            <a:ext cx="2041093" cy="82296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89611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>
                <a:solidFill>
                  <a:srgbClr val="F4EFE8"/>
                </a:solidFill>
                <a:latin typeface="Aptos Display"/>
              </a:rPr>
              <a:t>UX/UI-решения в готовом сайте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444752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D5D7E4"/>
                </a:solidFill>
                <a:latin typeface="Aptos"/>
              </a:rPr>
              <a:t>Теоретические материалы применены через структуру, визуальную иерархию и группировку элементов.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148840"/>
            <a:ext cx="3246120" cy="2240280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05840" y="2423160"/>
            <a:ext cx="713232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78892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F4EFE8"/>
                </a:solidFill>
                <a:latin typeface="Aptos Display"/>
              </a:rPr>
              <a:t>UX: целевое действие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56432"/>
            <a:ext cx="25603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D5D7E4"/>
                </a:solidFill>
                <a:latin typeface="Aptos"/>
              </a:rPr>
              <a:t>Навигация, CTA и блок тарифов ведут к покупке курса или консультации.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2148840"/>
            <a:ext cx="3246120" cy="2240280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00600" y="2423160"/>
            <a:ext cx="713232" cy="73152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0600" y="278892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F4EFE8"/>
                </a:solidFill>
                <a:latin typeface="Aptos Display"/>
              </a:rPr>
              <a:t>UI: графическая часть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456432"/>
            <a:ext cx="25603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D5D7E4"/>
                </a:solidFill>
                <a:latin typeface="Aptos"/>
              </a:rPr>
              <a:t>Темная тема, градиентные CTA, карточки и крупная типографика задают стиль digital-курса.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2148840"/>
            <a:ext cx="3246120" cy="2240280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595360" y="2423160"/>
            <a:ext cx="713232" cy="73152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0" y="278892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>
                <a:solidFill>
                  <a:srgbClr val="F4EFE8"/>
                </a:solidFill>
                <a:latin typeface="Aptos Display"/>
              </a:rPr>
              <a:t>Гештальт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456432"/>
            <a:ext cx="25603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>
                <a:solidFill>
                  <a:srgbClr val="D5D7E4"/>
                </a:solidFill>
                <a:latin typeface="Aptos"/>
              </a:rPr>
              <a:t>Связанные элементы сгруппированы в карточки, сетки и общие области.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5074920"/>
            <a:ext cx="10259568" cy="713232"/>
          </a:xfrm>
          <a:prstGeom prst="roundRect">
            <a:avLst/>
          </a:prstGeom>
          <a:solidFill>
            <a:srgbClr val="1F1B2D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5321808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>
                <a:solidFill>
                  <a:srgbClr val="F4EFE8"/>
                </a:solidFill>
                <a:latin typeface="Aptos"/>
              </a:rPr>
              <a:t>Палитра сайта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5230368"/>
            <a:ext cx="384048" cy="384048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18688" y="5330952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>
                <a:solidFill>
                  <a:srgbClr val="D5D7E4"/>
                </a:solidFill>
                <a:latin typeface="Aptos"/>
              </a:rPr>
              <a:t>#8B5CF6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69080" y="5230368"/>
            <a:ext cx="384048" cy="384048"/>
          </a:xfrm>
          <a:prstGeom prst="round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44568" y="5330952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>
                <a:solidFill>
                  <a:srgbClr val="D5D7E4"/>
                </a:solidFill>
                <a:latin typeface="Aptos"/>
              </a:rPr>
              <a:t>#EC4899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4960" y="5230368"/>
            <a:ext cx="384048" cy="384048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70448" y="5330952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>
                <a:solidFill>
                  <a:srgbClr val="D5D7E4"/>
                </a:solidFill>
                <a:latin typeface="Aptos"/>
              </a:rPr>
              <a:t>#38BDF8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5230368"/>
            <a:ext cx="384048" cy="384048"/>
          </a:xfrm>
          <a:prstGeom prst="roundRect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96327" y="5330952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>
                <a:solidFill>
                  <a:srgbClr val="D5D7E4"/>
                </a:solidFill>
                <a:latin typeface="Aptos"/>
              </a:rPr>
              <a:t>#2DD4BF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5230368"/>
            <a:ext cx="384048" cy="384048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22208" y="5330952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00" b="0">
                <a:solidFill>
                  <a:srgbClr val="D5D7E4"/>
                </a:solidFill>
                <a:latin typeface="Aptos"/>
              </a:rPr>
              <a:t>#F59E0B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B7B1A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5047488" y="1554480"/>
            <a:ext cx="2331720" cy="4892040"/>
          </a:xfrm>
          <a:prstGeom prst="rect">
            <a:avLst/>
          </a:prstGeom>
          <a:noFill/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7"/>
          </a:solidFill>
          <a:ln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41093" cy="8229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1949" y="0"/>
            <a:ext cx="2041093" cy="82296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898" y="0"/>
            <a:ext cx="2041093" cy="82296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2041093" cy="82296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7796" y="0"/>
            <a:ext cx="2041093" cy="82296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59746" y="0"/>
            <a:ext cx="2041093" cy="82296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89611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>
                <a:solidFill>
                  <a:srgbClr val="F4EFE8"/>
                </a:solidFill>
                <a:latin typeface="Aptos Display"/>
              </a:rPr>
              <a:t>Статический сайт без сборщика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444752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D5D7E4"/>
                </a:solidFill>
                <a:latin typeface="Aptos"/>
              </a:rPr>
              <a:t>Версия pr7 работает как отдельная HTML/CSS/JS-реализация и открывается через index.html.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3886200" cy="3456432"/>
          </a:xfrm>
          <a:prstGeom prst="roundRect">
            <a:avLst/>
          </a:prstGeom>
          <a:solidFill>
            <a:srgbClr val="0B0B10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33172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F4EFE8"/>
                </a:solidFill>
                <a:latin typeface="Cascadia Mono"/>
              </a:rPr>
              <a:t>pr7/</a:t>
            </a:r>
          </a:p>
          <a:p>
            <a:pPr algn="l"/>
            <a:r>
              <a:rPr sz="1300" b="0">
                <a:solidFill>
                  <a:srgbClr val="F4EFE8"/>
                </a:solidFill>
                <a:latin typeface="Cascadia Mono"/>
              </a:rPr>
              <a:t>├─ index.html   структура страницы</a:t>
            </a:r>
          </a:p>
          <a:p>
            <a:pPr algn="l"/>
            <a:r>
              <a:rPr sz="1300" b="0">
                <a:solidFill>
                  <a:srgbClr val="F4EFE8"/>
                </a:solidFill>
                <a:latin typeface="Cascadia Mono"/>
              </a:rPr>
              <a:t>├─ styles.css   темная UI-система</a:t>
            </a:r>
          </a:p>
          <a:p>
            <a:pPr algn="l"/>
            <a:r>
              <a:rPr sz="1300" b="0">
                <a:solidFill>
                  <a:srgbClr val="F4EFE8"/>
                </a:solidFill>
                <a:latin typeface="Cascadia Mono"/>
              </a:rPr>
              <a:t>├─ script.js    интерактив</a:t>
            </a:r>
          </a:p>
          <a:p>
            <a:pPr algn="l"/>
            <a:r>
              <a:rPr sz="1300" b="0">
                <a:solidFill>
                  <a:srgbClr val="F4EFE8"/>
                </a:solidFill>
                <a:latin typeface="Cascadia Mono"/>
              </a:rPr>
              <a:t>└─ assets/      PDF и изображения работ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690872"/>
            <a:ext cx="3337560" cy="56692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0120" y="4690872"/>
            <a:ext cx="64008" cy="566928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1288" y="4846320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26B6A4"/>
                </a:solidFill>
                <a:latin typeface="Aptos"/>
              </a:rPr>
              <a:t>SCRIPT.JS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5084064"/>
            <a:ext cx="3017520" cy="1097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Мобильное меню, плавная навигация, аккордеоны, рендер карточек и canvas-анимация.</a:t>
            </a:r>
          </a:p>
        </p:txBody>
      </p:sp>
      <p:pic>
        <p:nvPicPr>
          <p:cNvPr id="20" name="Picture 19" descr="site-mobile-menu.png"/>
          <p:cNvPicPr>
            <a:picLocks noChangeAspect="1"/>
          </p:cNvPicPr>
          <p:nvPr/>
        </p:nvPicPr>
        <p:blipFill>
          <a:blip r:embed="rId2"/>
          <a:srcRect t="1526" b="1526"/>
          <a:stretch>
            <a:fillRect/>
          </a:stretch>
        </p:blipFill>
        <p:spPr>
          <a:xfrm>
            <a:off x="5047488" y="1554480"/>
            <a:ext cx="2331720" cy="489204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818120" y="1993392"/>
            <a:ext cx="3611880" cy="84124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18120" y="1993392"/>
            <a:ext cx="64008" cy="84124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19288" y="2148840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8B5CF6"/>
                </a:solidFill>
                <a:latin typeface="Aptos"/>
              </a:rPr>
              <a:t>STYLES.CSS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9288" y="238658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CSS-переменные, responsive grid, фиксированный header, темные карточки и состояния hover.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3054096"/>
            <a:ext cx="3611880" cy="84124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18120" y="3054096"/>
            <a:ext cx="64008" cy="841248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19288" y="3209544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EC4899"/>
                </a:solidFill>
                <a:latin typeface="Aptos"/>
              </a:rPr>
              <a:t>INDEX.HTML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3447288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Семантические секции: hero, audience, benefits, program, frames, works, teachers, pricing, FAQ, footer.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4114800"/>
            <a:ext cx="3611880" cy="84124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818120" y="4114800"/>
            <a:ext cx="64008" cy="841248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19288" y="4270248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D6A13A"/>
                </a:solidFill>
                <a:latin typeface="Aptos"/>
              </a:rPr>
              <a:t>ASSETS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9288" y="4507992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PDF-материалы встроены через iframe, а изображения используются в галерее работ.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B7B1A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6693408" y="1847088"/>
            <a:ext cx="2240280" cy="4498848"/>
          </a:xfrm>
          <a:prstGeom prst="rect">
            <a:avLst/>
          </a:prstGeom>
          <a:noFill/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1993392"/>
            <a:ext cx="5623560" cy="3246120"/>
          </a:xfrm>
          <a:prstGeom prst="rect">
            <a:avLst/>
          </a:prstGeom>
          <a:noFill/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7"/>
          </a:solidFill>
          <a:ln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41093" cy="8229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1949" y="0"/>
            <a:ext cx="2041093" cy="82296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898" y="0"/>
            <a:ext cx="2041093" cy="82296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2041093" cy="82296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7796" y="0"/>
            <a:ext cx="2041093" cy="82296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59746" y="0"/>
            <a:ext cx="2041093" cy="82296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896112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300" b="1">
                <a:solidFill>
                  <a:srgbClr val="F4EFE8"/>
                </a:solidFill>
                <a:latin typeface="Aptos Display"/>
              </a:rPr>
              <a:t>Сайт сохраняет сценарий на мобильном экране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444752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D5D7E4"/>
                </a:solidFill>
                <a:latin typeface="Aptos"/>
              </a:rPr>
              <a:t>Мобильная версия перестраивает сетки, скрывает десктопную навигацию и оставляет крупные CTA.</a:t>
            </a:r>
          </a:p>
        </p:txBody>
      </p:sp>
      <p:pic>
        <p:nvPicPr>
          <p:cNvPr id="14" name="Picture 13" descr="site-hero.png"/>
          <p:cNvPicPr>
            <a:picLocks noChangeAspect="1"/>
          </p:cNvPicPr>
          <p:nvPr/>
        </p:nvPicPr>
        <p:blipFill>
          <a:blip r:embed="rId2"/>
          <a:srcRect t="3821" b="3821"/>
          <a:stretch>
            <a:fillRect/>
          </a:stretch>
        </p:blipFill>
        <p:spPr>
          <a:xfrm>
            <a:off x="658368" y="1993392"/>
            <a:ext cx="5623560" cy="3246120"/>
          </a:xfrm>
          <a:prstGeom prst="rect">
            <a:avLst/>
          </a:prstGeom>
        </p:spPr>
      </p:pic>
      <p:pic>
        <p:nvPicPr>
          <p:cNvPr id="16" name="Picture 15" descr="site-mobile-hero.png"/>
          <p:cNvPicPr>
            <a:picLocks noChangeAspect="1"/>
          </p:cNvPicPr>
          <p:nvPr/>
        </p:nvPicPr>
        <p:blipFill>
          <a:blip r:embed="rId3"/>
          <a:srcRect t="3603" b="3603"/>
          <a:stretch>
            <a:fillRect/>
          </a:stretch>
        </p:blipFill>
        <p:spPr>
          <a:xfrm>
            <a:off x="6693408" y="1847088"/>
            <a:ext cx="2240280" cy="449884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308592" y="1874519"/>
            <a:ext cx="2331720" cy="65836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08592" y="1874519"/>
            <a:ext cx="64008" cy="65836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0" y="2029967"/>
            <a:ext cx="2011679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8B5CF6"/>
                </a:solidFill>
                <a:latin typeface="Aptos"/>
              </a:rPr>
              <a:t>МЕНЮ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267712"/>
            <a:ext cx="2011679" cy="2011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Desktop-навигация заменяется burger-меню.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08592" y="2761488"/>
            <a:ext cx="2331720" cy="65836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08592" y="2761488"/>
            <a:ext cx="64008" cy="658368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0" y="2916936"/>
            <a:ext cx="2011679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EC4899"/>
                </a:solidFill>
                <a:latin typeface="Aptos"/>
              </a:rPr>
              <a:t>СЕТКИ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154680"/>
            <a:ext cx="2011679" cy="2011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Карточки и галереи переходят в одну колонку.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08592" y="3648456"/>
            <a:ext cx="2331720" cy="65836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308592" y="3648456"/>
            <a:ext cx="64008" cy="658368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0" y="3803904"/>
            <a:ext cx="2011679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26B6A4"/>
                </a:solidFill>
                <a:latin typeface="Aptos"/>
              </a:rPr>
              <a:t>КНОПКИ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4041648"/>
            <a:ext cx="2011679" cy="2011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CTA остаются крупными и удобными для нажатия.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08592" y="4535424"/>
            <a:ext cx="2331720" cy="658368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308592" y="4535424"/>
            <a:ext cx="64008" cy="658368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09760" y="4690872"/>
            <a:ext cx="2011679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4B78FF"/>
                </a:solidFill>
                <a:latin typeface="Aptos"/>
              </a:rPr>
              <a:t>ВИЗУАЛ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4928616"/>
            <a:ext cx="2011679" cy="20116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Canvas и изображения масштабируются под ширину экрана.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B7B1A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5623560" y="658368"/>
            <a:ext cx="6080760" cy="4937760"/>
          </a:xfrm>
          <a:prstGeom prst="rect">
            <a:avLst/>
          </a:prstGeom>
          <a:noFill/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7"/>
          </a:solidFill>
          <a:ln>
            <a:solidFill>
              <a:srgbClr val="0707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41093" cy="8229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31949" y="0"/>
            <a:ext cx="2041093" cy="82296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63898" y="0"/>
            <a:ext cx="2041093" cy="82296"/>
          </a:xfrm>
          <a:prstGeom prst="rect">
            <a:avLst/>
          </a:prstGeom>
          <a:solidFill>
            <a:srgbClr val="26B6A4"/>
          </a:solidFill>
          <a:ln>
            <a:solidFill>
              <a:srgbClr val="26B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5847" y="0"/>
            <a:ext cx="2041093" cy="82296"/>
          </a:xfrm>
          <a:prstGeom prst="rect">
            <a:avLst/>
          </a:prstGeom>
          <a:solidFill>
            <a:srgbClr val="4B78FF"/>
          </a:solidFill>
          <a:ln>
            <a:solidFill>
              <a:srgbClr val="4B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7796" y="0"/>
            <a:ext cx="2041093" cy="82296"/>
          </a:xfrm>
          <a:prstGeom prst="rect">
            <a:avLst/>
          </a:prstGeom>
          <a:solidFill>
            <a:srgbClr val="D6A13A"/>
          </a:solidFill>
          <a:ln>
            <a:solidFill>
              <a:srgbClr val="D6A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159746" y="0"/>
            <a:ext cx="2041093" cy="82296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ite-hero.png"/>
          <p:cNvPicPr>
            <a:picLocks noChangeAspect="1"/>
          </p:cNvPicPr>
          <p:nvPr/>
        </p:nvPicPr>
        <p:blipFill>
          <a:blip r:embed="rId2"/>
          <a:srcRect l="11516" r="11516"/>
          <a:stretch>
            <a:fillRect/>
          </a:stretch>
        </p:blipFill>
        <p:spPr>
          <a:xfrm>
            <a:off x="5623560" y="658368"/>
            <a:ext cx="6080760" cy="49377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0"/>
            <a:ext cx="5532120" cy="68580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115568"/>
            <a:ext cx="534924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>
                <a:solidFill>
                  <a:srgbClr val="F4EFE8"/>
                </a:solidFill>
                <a:latin typeface="Aptos Display"/>
              </a:rPr>
              <a:t>Готовый сайт превращает</a:t>
            </a:r>
          </a:p>
          <a:p>
            <a:pPr algn="l"/>
            <a:r>
              <a:rPr sz="3200" b="1">
                <a:solidFill>
                  <a:srgbClr val="F4EFE8"/>
                </a:solidFill>
                <a:latin typeface="Aptos Display"/>
              </a:rPr>
              <a:t>исследование в рабочий лендинг.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788920"/>
            <a:ext cx="507492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D5D7E4"/>
                </a:solidFill>
                <a:latin typeface="Aptos"/>
              </a:rPr>
              <a:t>В pr7 есть ясный оффер, логичная информационная архитектура, визуальные доказательства результата, тарифы, FAQ и адаптивная HTML/CSS/JS-реализация.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069080"/>
            <a:ext cx="4800600" cy="786384"/>
          </a:xfrm>
          <a:prstGeom prst="roundRect">
            <a:avLst/>
          </a:prstGeom>
          <a:solidFill>
            <a:srgbClr val="16151E"/>
          </a:solidFill>
          <a:ln w="12700">
            <a:solidFill>
              <a:srgbClr val="48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4069080"/>
            <a:ext cx="64008" cy="786384"/>
          </a:xfrm>
          <a:prstGeom prst="rect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4224528"/>
            <a:ext cx="44805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EC4899"/>
                </a:solidFill>
                <a:latin typeface="Aptos"/>
              </a:rPr>
              <a:t>ГЛАВНАЯ МЫСЛЬ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462272"/>
            <a:ext cx="44805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>
                <a:solidFill>
                  <a:srgbClr val="F4EFE8"/>
                </a:solidFill>
                <a:latin typeface="Aptos"/>
              </a:rPr>
              <a:t>Страница ведет пользователя от интереса к доверию и целевому действию.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42432"/>
            <a:ext cx="48463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00" b="1">
                <a:solidFill>
                  <a:srgbClr val="F4EFE8"/>
                </a:solidFill>
                <a:latin typeface="Aptos Display"/>
              </a:rPr>
              <a:t>Спасибо за внимание!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B7B1A9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840</Words>
  <Application>Microsoft Office PowerPoint</Application>
  <DocSecurity>0</DocSecurity>
  <PresentationFormat>Широкоэкранный</PresentationFormat>
  <Paragraphs>154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Cascadia Mono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Лендинг PixelArt: Моушн-дизайн с нуля</dc:title>
  <dc:subject>Презентация по готовому сайту pr7</dc:subject>
  <dc:creator>Фёдоров А.С.</dc:creator>
  <cp:lastModifiedBy>Антон Фёдоров</cp:lastModifiedBy>
  <cp:revision>17</cp:revision>
  <dcterms:created xsi:type="dcterms:W3CDTF">2026-04-20T21:40:02Z</dcterms:created>
  <dcterms:modified xsi:type="dcterms:W3CDTF">2026-06-04T20:37:21Z</dcterms:modified>
</cp:coreProperties>
</file>